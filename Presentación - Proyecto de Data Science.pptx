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3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6" r:id="rId8"/>
    <p:sldId id="263" r:id="rId9"/>
    <p:sldId id="262" r:id="rId10"/>
    <p:sldId id="265" r:id="rId11"/>
    <p:sldId id="270" r:id="rId12"/>
    <p:sldId id="267" r:id="rId13"/>
  </p:sldIdLst>
  <p:sldSz cx="18288000" cy="10287000"/>
  <p:notesSz cx="6858000" cy="9144000"/>
  <p:embeddedFontLst>
    <p:embeddedFont>
      <p:font typeface="ITC Avant Garde Gothic" panose="020B0502020202020204"/>
      <p:regular r:id="rId17"/>
    </p:embeddedFont>
    <p:embeddedFont>
      <p:font typeface="TT Fors" panose="020B000303000102000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588169"/>
            <a:ext cx="9763125" cy="3531552"/>
            <a:chOff x="0" y="-104775"/>
            <a:chExt cx="13017500" cy="4708737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419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</a:pPr>
              <a:r>
                <a:rPr lang="en-US" sz="10000" spc="-299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Proyecto de </a:t>
              </a:r>
              <a:r>
                <a:rPr lang="es-MX" altLang="en-US" sz="10000" spc="-299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Estadística</a:t>
              </a:r>
              <a:endParaRPr lang="es-MX" altLang="en-US" sz="10000" spc="-299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ANÁLISIS DE ANIMES</a:t>
              </a:r>
              <a:endParaRPr lang="en-US" sz="260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7099" y="6286500"/>
            <a:ext cx="7194651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Integrantes :</a:t>
            </a:r>
            <a:endParaRPr 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Dari</a:t>
            </a: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án Santamarina Hernández</a:t>
            </a:r>
            <a:b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</a:b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Abel de la Noval Pérez</a:t>
            </a:r>
            <a:endParaRPr lang="es-MX" alt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  <a:p>
            <a:pPr marL="0" lvl="0" indent="0" algn="l">
              <a:lnSpc>
                <a:spcPts val="3640"/>
              </a:lnSpc>
            </a:pP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Frank Alberto Piz Torriente</a:t>
            </a:r>
            <a:endParaRPr lang="es-MX" alt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765"/>
            <a:ext cx="11201400" cy="2044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s-MX" altLang="en-US" sz="8000" u="none" strike="noStrike" spc="-240">
                <a:solidFill>
                  <a:srgbClr val="F9F4EF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Tema de Investigación del Proyecto</a:t>
            </a:r>
            <a:endParaRPr lang="es-MX" altLang="en-US" sz="8000" u="none" strike="noStrike" spc="-240">
              <a:solidFill>
                <a:srgbClr val="F9F4EF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br>
              <a:rPr lang="es-MX" altLang="en-US" sz="8000" u="none" strike="noStrike" spc="-240">
                <a:solidFill>
                  <a:srgbClr val="F9F4EF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</a:br>
            <a:endParaRPr lang="es-MX" altLang="en-US" sz="8000" u="none" strike="noStrike" spc="-240">
              <a:solidFill>
                <a:srgbClr val="F9F4EF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Cuadro de texto 11"/>
          <p:cNvSpPr txBox="1"/>
          <p:nvPr/>
        </p:nvSpPr>
        <p:spPr>
          <a:xfrm>
            <a:off x="7482205" y="471043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s-MX" altLang="en-US"/>
          </a:p>
        </p:txBody>
      </p:sp>
      <p:sp>
        <p:nvSpPr>
          <p:cNvPr id="15" name="TextBox 7"/>
          <p:cNvSpPr txBox="1"/>
          <p:nvPr/>
        </p:nvSpPr>
        <p:spPr>
          <a:xfrm>
            <a:off x="609600" y="3314700"/>
            <a:ext cx="14262100" cy="3734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s-MX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anime es un fen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meno cultural de alcance internacional, con una comunidad activa que participa constantemente en su evaluaci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y difusi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 MyAnimeList es una de las principales plataformas especializadas, donde los usuarios califican animes y determinan su nivel de popularidad. Dado que nuestro dataset proviene de MyAnimeList, este proyecto busca analizar la puntuaci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como un indicador del reconocimiento del p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blico. Estudiar los factores que influyen en dicha puntuaci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permite comprender mejor c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mo caracter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sticas como la popularidad y la participaci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de los usuarios se relacionan con la percepci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de calidad de los animes.</a:t>
            </a:r>
            <a:endParaRPr lang="es-MX" altLang="en-US" sz="2600">
              <a:solidFill>
                <a:schemeClr val="bg2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5988844"/>
            <a:ext cx="4010025" cy="1292066"/>
            <a:chOff x="0" y="-66675"/>
            <a:chExt cx="5346700" cy="17227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4007"/>
              <a:ext cx="5346700" cy="502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MyAnimeList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429000" cy="656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s-MX" altLang="en-US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Dataset</a:t>
              </a: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 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343650" y="5988844"/>
            <a:ext cx="4010025" cy="1669256"/>
            <a:chOff x="0" y="-66675"/>
            <a:chExt cx="5346700" cy="2225675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4007"/>
              <a:ext cx="53467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Puntuaci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n, n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episodios, duraci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n, popularidad, miembros</a:t>
              </a:r>
              <a:r>
                <a:rPr 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.</a:t>
              </a:r>
              <a:endParaRPr lang="en-US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429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Variables analizadas: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2172950" y="5988844"/>
            <a:ext cx="4010025" cy="2046447"/>
            <a:chOff x="0" y="-66675"/>
            <a:chExt cx="5346700" cy="2728596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4007"/>
              <a:ext cx="5346700" cy="150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Regresi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lineal m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ltiple (OLS)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ANOVA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An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lisis de clustering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429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T</a:t>
              </a:r>
              <a:r>
                <a:rPr lang="en-US" altLang="en-US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cnicas aplicadas: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14800" y="114300"/>
            <a:ext cx="1407795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Metodolog</a:t>
            </a:r>
            <a:r>
              <a:rPr lang="es-MX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ía</a:t>
            </a:r>
            <a:endParaRPr lang="es-MX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id="13" name="Freeform 13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6419850" y="5143500"/>
            <a:ext cx="819150" cy="446049"/>
            <a:chOff x="0" y="0"/>
            <a:chExt cx="1092200" cy="594732"/>
          </a:xfrm>
        </p:grpSpPr>
        <p:sp>
          <p:nvSpPr>
            <p:cNvPr id="16" name="Freeform 16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12172950" y="5143500"/>
            <a:ext cx="819150" cy="446049"/>
            <a:chOff x="0" y="0"/>
            <a:chExt cx="1092200" cy="594732"/>
          </a:xfrm>
        </p:grpSpPr>
        <p:sp>
          <p:nvSpPr>
            <p:cNvPr id="19" name="Freeform 19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2" name="TextBox 6"/>
          <p:cNvSpPr txBox="1"/>
          <p:nvPr/>
        </p:nvSpPr>
        <p:spPr>
          <a:xfrm>
            <a:off x="4953000" y="8648700"/>
            <a:ext cx="9035415" cy="753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Enfoque: cuantitativo y exploratorio, orientado a identificar patrones y diferencias entre tipos de anime.</a:t>
            </a:r>
            <a:endParaRPr lang="en-US" altLang="es-MX" sz="2100" spc="-52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  <p:pic>
        <p:nvPicPr>
          <p:cNvPr id="23" name="Imagen 22" descr="personajes-de-jujutsu-kaisen_3840x2160_xtrafondos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" y="979170"/>
            <a:ext cx="17787620" cy="4826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765"/>
            <a:ext cx="6886575" cy="205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s-MX" alt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Preguntas de Investigación</a:t>
            </a:r>
            <a:endParaRPr lang="es-MX" altLang="en-US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5" name="Group 5"/>
          <p:cNvGrpSpPr/>
          <p:nvPr>
            <p:custDataLst>
              <p:tags r:id="rId1"/>
            </p:custDataLst>
          </p:nvPr>
        </p:nvGrpSpPr>
        <p:grpSpPr>
          <a:xfrm rot="0">
            <a:off x="9296400" y="1483519"/>
            <a:ext cx="6886575" cy="1699101"/>
            <a:chOff x="0" y="-104775"/>
            <a:chExt cx="9182100" cy="2265468"/>
          </a:xfrm>
        </p:grpSpPr>
        <p:sp>
          <p:nvSpPr>
            <p:cNvPr id="6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0" y="1155700"/>
              <a:ext cx="91821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Qu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é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factores explican la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promedio que recibe un anime en MyAnimeList?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Pregunta 1 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Regresi</a:t>
              </a: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Lineal</a:t>
              </a:r>
              <a:endParaRPr lang="en-US" altLang="es-MX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>
            <p:custDataLst>
              <p:tags r:id="rId4"/>
            </p:custDataLst>
          </p:nvPr>
        </p:nvGrpSpPr>
        <p:grpSpPr>
          <a:xfrm rot="0">
            <a:off x="9296400" y="4169569"/>
            <a:ext cx="6886575" cy="1699101"/>
            <a:chOff x="0" y="-104775"/>
            <a:chExt cx="9182100" cy="2265468"/>
          </a:xfrm>
        </p:grpSpPr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0" y="1155700"/>
              <a:ext cx="91821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Existen diferencias estad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í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sticamente significativas en la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entre distintos tipos de anime?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regunta 2 </a:t>
              </a:r>
              <a:r>
                <a:rPr lang="en-US" altLang="es-MX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ANOVA</a:t>
              </a:r>
              <a:endParaRPr lang="es-MX" altLang="en-US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1" name="Group 11"/>
          <p:cNvGrpSpPr/>
          <p:nvPr>
            <p:custDataLst>
              <p:tags r:id="rId7"/>
            </p:custDataLst>
          </p:nvPr>
        </p:nvGrpSpPr>
        <p:grpSpPr>
          <a:xfrm rot="0">
            <a:off x="9296400" y="6859429"/>
            <a:ext cx="6886575" cy="2076291"/>
            <a:chOff x="0" y="-104775"/>
            <a:chExt cx="9182100" cy="2768388"/>
          </a:xfrm>
        </p:grpSpPr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0" y="1155700"/>
              <a:ext cx="9182100" cy="1507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Es posible agrupar animes en clusters basados en caracter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í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sticas como n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episodios, popularidad, miembros,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y duraci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regunta 3 </a:t>
              </a:r>
              <a:r>
                <a:rPr lang="en-US" altLang="es-MX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 </a:t>
              </a: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lustering (K-Means)</a:t>
              </a:r>
              <a:endParaRPr lang="en-US" altLang="es-MX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47700"/>
            <a:ext cx="6886575" cy="820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1 :</a:t>
            </a:r>
            <a:endParaRPr lang="en-US" altLang="en-US" sz="80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Qu</a:t>
            </a: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 factores explican la Puntuaci</a:t>
            </a: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promedio que recibe un anime en MyAnimeList?</a:t>
            </a:r>
            <a:endParaRPr lang="en-US" altLang="es-MX" sz="80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92465" y="2091055"/>
            <a:ext cx="8877300" cy="47758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modelo de regresi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lineal m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ltiple presenta un R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²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ajustado de 0.59, indicando que una parte sustancial de la puntuaci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de los animes en MyAnimeList puede explicarse por variables estructurales, de popularidad y de clasificaci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 Esto confirma que las valoraciones de los usuarios no son aleatorias, sino que responden a patrones sistem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ticos observables en los datos.</a:t>
            </a:r>
            <a:endParaRPr lang="en-US" altLang="es-MX" sz="40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81000" y="500855"/>
            <a:ext cx="9160510" cy="5444455"/>
            <a:chOff x="-76200" y="-322793"/>
            <a:chExt cx="12214013" cy="7259273"/>
          </a:xfrm>
        </p:grpSpPr>
        <p:sp>
          <p:nvSpPr>
            <p:cNvPr id="3" name="TextBox 3"/>
            <p:cNvSpPr txBox="1"/>
            <p:nvPr/>
          </p:nvSpPr>
          <p:spPr>
            <a:xfrm>
              <a:off x="-76200" y="-322793"/>
              <a:ext cx="12214013" cy="5709920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n-US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60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Ejemplos Concretos de la </a:t>
              </a: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60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Pregunta 1 :</a:t>
              </a: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s-MX" sz="8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1400" y="2412740"/>
              <a:ext cx="9182100" cy="452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Los resultados muestran que episodios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largos se asocian con puntuaciones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altas, lo que sugiere una preferencia por narrativas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desarrolladas, como se observa en animes como Steins;Gate o Fullmetal Alchemist: Brotherhood. En contraste, un mayor n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 presenta un efecto negativo leve, visible en series muy extensas como Naruto o Bleach, donde puede existir desgaste narrativo o mayor variabilidad en la calidad percibida.</a:t>
              </a:r>
              <a:endPara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1">
              <a:blip r:embed="rId1"/>
              <a:stretch>
                <a:fillRect t="-205" b="-205"/>
              </a:stretch>
            </a:blipFill>
          </p:spPr>
        </p:sp>
      </p:grpSp>
      <p:sp>
        <p:nvSpPr>
          <p:cNvPr id="8" name="TextBox 5"/>
          <p:cNvSpPr txBox="1"/>
          <p:nvPr/>
        </p:nvSpPr>
        <p:spPr>
          <a:xfrm>
            <a:off x="1346200" y="6286305"/>
            <a:ext cx="6886575" cy="37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La popularidad juega un rol ambivalente: animes con muchos miembros tienden a recibir mejores puntuaciones, pero una masificaci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excesiva genera valoraciones 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 heterog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neas, como en Sword Art Online o Tokyo Ghoul. Adem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s, formatos como Music y Special (por ejemplo, Shelter) y adaptaciones de manga o novelas obtienen mejores puntuaciones, mientras que contenidos con clasificaci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adulta (R/R+), como Devilman Crybaby, presentan puntuaciones promedio 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 bajas.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.</a:t>
            </a:r>
            <a:endParaRPr lang="en-US" altLang="es-MX" sz="2100" u="none" strike="noStrike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1028700"/>
            <a:ext cx="9178925" cy="77025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2 :</a:t>
            </a:r>
            <a:endParaRPr lang="en-US" sz="54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Existen diferencias estad</a:t>
            </a: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sticamente significativas en la Puntuaci</a:t>
            </a: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entre distintos tipos de anime?</a:t>
            </a:r>
            <a:endParaRPr lang="en-US" altLang="es-MX" sz="54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06000" y="2247900"/>
            <a:ext cx="7545705" cy="527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ANOVA de un factor muestra que existen diferencias estad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sticamente significativas en la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entre los distintos tipos de anime. A pesar de que los supuestos de normalidad y homocedasticidad no se cumplen estrictamente, los resultados son robustos, ya que la prueba no param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trica de Kruskal-Wallis confirma las conclusiones del ANOVA. Adem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s, 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post-hoc (Tukey HSD) identifica diferencias espec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ficas entre formatos, indicando que el tipo de anime explica una proporci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relevante de la variabilidad en la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</a:t>
            </a:r>
            <a:endParaRPr lang="en-US" altLang="es-MX" sz="28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9600" y="659606"/>
            <a:ext cx="8382000" cy="9437688"/>
            <a:chOff x="-76200" y="-9525"/>
            <a:chExt cx="11176000" cy="1258358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410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Ejemplos concretos de la Pregunta 2 </a:t>
              </a: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76200" y="4038812"/>
              <a:ext cx="11099800" cy="8535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Las diferencias entre tipos de anime pueden observarse en casos representativos del dataset. Las pel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í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culas suelen recibir puntuaciones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altas, como Spirited Away o Your Name, posiblemente por su alta calidad t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cnica y narrativa concentrada. Los especiales (Special) y OVAs tambi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destacan en valoraci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n, como Attack on Titan: Ilse’s Notebook. En contraste, las series de tipo TV, como Naruto o Bleach, presentan puntuaciones promedio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moderadas, lo que puede reflejar mayores expectativas y mayor heterogeneidad en la experiencia del espectador a lo largo del tiempo.</a:t>
              </a:r>
              <a:endParaRPr lang="en-US" altLang="es-MX" sz="28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9742167" y="2"/>
            <a:ext cx="8545827" cy="10289542"/>
            <a:chOff x="-117582" y="-560826"/>
            <a:chExt cx="1012421" cy="1218998"/>
          </a:xfrm>
        </p:grpSpPr>
        <p:sp>
          <p:nvSpPr>
            <p:cNvPr id="8" name="Freeform 8"/>
            <p:cNvSpPr/>
            <p:nvPr/>
          </p:nvSpPr>
          <p:spPr>
            <a:xfrm>
              <a:off x="-117582" y="-560826"/>
              <a:ext cx="1012421" cy="1218998"/>
            </a:xfrm>
            <a:custGeom>
              <a:avLst/>
              <a:gdLst/>
              <a:ahLst/>
              <a:cxnLst/>
              <a:rect l="l" t="t" r="r" b="b"/>
              <a:pathLst>
                <a:path w="815850" h="578881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 rotWithShape="1">
              <a:blip r:embed="rId1"/>
              <a:stretch>
                <a:fillRect l="-144" r="-14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723900"/>
            <a:ext cx="6886575" cy="820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3 :</a:t>
            </a:r>
            <a:endParaRPr lang="en-US" altLang="en-US" sz="48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Es posible agrupar animes en clusters basados en caracter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sticas como n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ú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mero de episodios, popularidad, miembros, puntuaci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duraci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n?</a:t>
            </a:r>
            <a:endParaRPr lang="en-US" altLang="es-MX" sz="48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9067897" y="1943231"/>
            <a:ext cx="7128413" cy="565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de clustering muestra que es posible agrupar animes en conjuntos claramente diferenciados utilizando variables como 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mero de episodios, duraci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n,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n, popularidad y 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mero de miembros. Los resultados identifican cinco cl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steres bien definidos, cada uno representando un perfil distinto dentro de la industria del anime, desde series est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ndar de temporada hasta producciones altamente masivas o de nicho. Esto evidencia que los animes no forman un grupo homog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neo, sino que siguen patrones estructurales y de consumo identificables.</a:t>
            </a:r>
            <a:endParaRPr lang="en-US" altLang="es-MX" sz="28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9600" y="659606"/>
            <a:ext cx="8382000" cy="9437688"/>
            <a:chOff x="-76200" y="-9525"/>
            <a:chExt cx="11176000" cy="1258358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410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Ejemplos concretos de la Pregunta 3</a:t>
              </a: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76200" y="4038812"/>
              <a:ext cx="11099800" cy="8535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Los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steres identificados pueden interpretarse a trav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de ejemplos representativos. El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 de “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xitos mainstream” incluye animes con gran exposici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y altos puntajes, como Attack on Titan o Death Note. El grupo de pel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í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culas de anime se caracteriza por una duraci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elevada y pocos episodios, como Your Name. Las series largas de formato corto, como One Piece, se distinguen por su n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mero extremo de episodios. En contraste, el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 de nicho o baja popularidad agrupa OVAs o series poco conocidas, mientras que el de animes de temporada est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ndar re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ne series TV de 12–24 episodios con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tricas promedio</a:t>
              </a:r>
              <a:endParaRPr lang="en-US" altLang="es-MX" sz="28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0632436" y="41277"/>
            <a:ext cx="7655564" cy="10245723"/>
            <a:chOff x="-11043" y="-4556"/>
            <a:chExt cx="826893" cy="583437"/>
          </a:xfrm>
        </p:grpSpPr>
        <p:sp>
          <p:nvSpPr>
            <p:cNvPr id="8" name="Freeform 8"/>
            <p:cNvSpPr/>
            <p:nvPr/>
          </p:nvSpPr>
          <p:spPr>
            <a:xfrm>
              <a:off x="-11043" y="-4556"/>
              <a:ext cx="826893" cy="583437"/>
            </a:xfrm>
            <a:custGeom>
              <a:avLst/>
              <a:gdLst/>
              <a:ahLst/>
              <a:cxnLst/>
              <a:rect l="l" t="t" r="r" b="b"/>
              <a:pathLst>
                <a:path w="815850" h="578881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 rotWithShape="1">
              <a:blip r:embed="rId1"/>
              <a:stretch>
                <a:fillRect l="-144" r="-14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B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532621" y="0"/>
            <a:ext cx="8755379" cy="10287000"/>
            <a:chOff x="-201467" y="0"/>
            <a:chExt cx="1965910" cy="2309817"/>
          </a:xfrm>
        </p:grpSpPr>
        <p:sp>
          <p:nvSpPr>
            <p:cNvPr id="3" name="Freeform 3"/>
            <p:cNvSpPr/>
            <p:nvPr/>
          </p:nvSpPr>
          <p:spPr>
            <a:xfrm>
              <a:off x="-201467" y="0"/>
              <a:ext cx="1965910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 rotWithShape="1">
              <a:blip r:embed="rId1"/>
              <a:stretch>
                <a:fillRect t="-255" b="-25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6750" y="659765"/>
            <a:ext cx="832485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Conclusiones</a:t>
            </a:r>
            <a:endParaRPr lang="en-US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533400" y="1714659"/>
            <a:ext cx="8301213" cy="787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La puntuaci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promedio en MyAnimeList est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 influenciada por factores estructurales, de popularidad y de clasificaci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n, no es aleatoria.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Existen diferencias significativas entre tipos de anime, confirmadas por ANOVA y pruebas no param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tricas.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Los animes pueden agruparse en clusters claros, que reflejan perfiles de producci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consumo: desde series est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ndar hasta 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xitos mainstream y nichos poco populares.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El an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lisis estad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stico permite identificar patrones de valoraci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consumo, aunque no determina de manera absoluta la calidad de un anime.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Estos hallazgos muestran la importancia de considerar caracter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sticas objetivas y din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micas de comunidad al interpretar puntuaciones en plataformas de entretenimiento.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2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3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4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5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6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7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8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9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10.xml><?xml version="1.0" encoding="utf-8"?>
<p:tagLst xmlns:p="http://schemas.openxmlformats.org/presentationml/2006/main">
  <p:tag name="KSO_WM_DIAGRAM_VIRTUALLY_FRAME" val="{&quot;height&quot;:445.51035366018414,&quot;left&quot;:716.35,&quot;top&quot;:321.65,&quot;width&quot;:569.90000000000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6321</Words>
  <Application>WPS Presentation</Application>
  <PresentationFormat>On-screen Show (4:3)</PresentationFormat>
  <Paragraphs>90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ITC Avant Garde Gothic</vt:lpstr>
      <vt:lpstr>TT Fors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Proyecto de Data Science</dc:title>
  <dc:creator/>
  <dc:description>Presentación - Proyecto de Data Science</dc:description>
  <cp:lastModifiedBy>Darian Santamarina</cp:lastModifiedBy>
  <cp:revision>8</cp:revision>
  <dcterms:created xsi:type="dcterms:W3CDTF">2006-08-16T00:00:00Z</dcterms:created>
  <dcterms:modified xsi:type="dcterms:W3CDTF">2026-01-12T17:03:51Z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1D21FD4DF22F4E818E4E91A7E1576F31_12</vt:lpwstr>
  </property>
  <property fmtid="{D5CDD505-2E9C-101B-9397-08002B2CF9AE}" pid="3" name="KSOProductBuildVer">
    <vt:lpwstr>2058-12.2.0.23196</vt:lpwstr>
  </property>
</Properties>
</file>