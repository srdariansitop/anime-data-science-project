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media/image3.svg" ContentType="image/svg+xml"/>
  <Override PartName="/ppt/media/image5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  <p:sldId id="257" r:id="rId4"/>
    <p:sldId id="260" r:id="rId5"/>
    <p:sldId id="258" r:id="rId6"/>
    <p:sldId id="259" r:id="rId7"/>
    <p:sldId id="266" r:id="rId8"/>
    <p:sldId id="263" r:id="rId9"/>
    <p:sldId id="262" r:id="rId10"/>
    <p:sldId id="265" r:id="rId11"/>
    <p:sldId id="270" r:id="rId12"/>
    <p:sldId id="267" r:id="rId13"/>
  </p:sldIdLst>
  <p:sldSz cx="18288000" cy="10287000"/>
  <p:notesSz cx="6858000" cy="9144000"/>
  <p:embeddedFontLst>
    <p:embeddedFont>
      <p:font typeface="ITC Avant Garde Gothic" panose="020B0502020202020204"/>
      <p:regular r:id="rId17"/>
    </p:embeddedFont>
    <p:embeddedFont>
      <p:font typeface="TT Fors" panose="020B0003030001020000"/>
      <p:regular r:id="rId18"/>
    </p:embeddedFont>
    <p:embeddedFont>
      <p:font typeface="Calibri" panose="020F0502020204030204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36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2" Type="http://schemas.openxmlformats.org/officeDocument/2006/relationships/font" Target="fonts/font6.fntdata"/><Relationship Id="rId21" Type="http://schemas.openxmlformats.org/officeDocument/2006/relationships/font" Target="fonts/font5.fntdata"/><Relationship Id="rId20" Type="http://schemas.openxmlformats.org/officeDocument/2006/relationships/font" Target="fonts/font4.fntdata"/><Relationship Id="rId2" Type="http://schemas.openxmlformats.org/officeDocument/2006/relationships/theme" Target="theme/theme1.xml"/><Relationship Id="rId19" Type="http://schemas.openxmlformats.org/officeDocument/2006/relationships/font" Target="fonts/font3.fntdata"/><Relationship Id="rId18" Type="http://schemas.openxmlformats.org/officeDocument/2006/relationships/font" Target="fonts/font2.fntdata"/><Relationship Id="rId17" Type="http://schemas.openxmlformats.org/officeDocument/2006/relationships/font" Target="fonts/font1.fntdata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6.jpeg"/><Relationship Id="rId2" Type="http://schemas.openxmlformats.org/officeDocument/2006/relationships/image" Target="../media/image5.svg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2" Type="http://schemas.openxmlformats.org/officeDocument/2006/relationships/slideLayout" Target="../slideLayouts/slideLayout7.xml"/><Relationship Id="rId11" Type="http://schemas.openxmlformats.org/officeDocument/2006/relationships/image" Target="../media/image8.svg"/><Relationship Id="rId10" Type="http://schemas.openxmlformats.org/officeDocument/2006/relationships/image" Target="../media/image7.png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11868150" y="0"/>
            <a:ext cx="6419850" cy="10287000"/>
            <a:chOff x="0" y="0"/>
            <a:chExt cx="994603" cy="159372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94603" cy="1593725"/>
            </a:xfrm>
            <a:custGeom>
              <a:avLst/>
              <a:gdLst/>
              <a:ahLst/>
              <a:cxnLst/>
              <a:rect l="l" t="t" r="r" b="b"/>
              <a:pathLst>
                <a:path w="994603" h="1593725">
                  <a:moveTo>
                    <a:pt x="0" y="0"/>
                  </a:moveTo>
                  <a:lnTo>
                    <a:pt x="994603" y="0"/>
                  </a:lnTo>
                  <a:lnTo>
                    <a:pt x="994603" y="1593725"/>
                  </a:lnTo>
                  <a:lnTo>
                    <a:pt x="0" y="1593725"/>
                  </a:lnTo>
                  <a:close/>
                </a:path>
              </a:pathLst>
            </a:custGeom>
            <a:blipFill rotWithShape="1">
              <a:blip r:embed="rId1"/>
              <a:stretch>
                <a:fillRect t="-126" b="-126"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 rot="0">
            <a:off x="666750" y="588169"/>
            <a:ext cx="9763125" cy="3531552"/>
            <a:chOff x="0" y="-104775"/>
            <a:chExt cx="13017500" cy="4708737"/>
          </a:xfrm>
        </p:grpSpPr>
        <p:sp>
          <p:nvSpPr>
            <p:cNvPr id="5" name="TextBox 5"/>
            <p:cNvSpPr txBox="1"/>
            <p:nvPr/>
          </p:nvSpPr>
          <p:spPr>
            <a:xfrm>
              <a:off x="0" y="1184275"/>
              <a:ext cx="13017500" cy="34196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10000"/>
                </a:lnSpc>
              </a:pPr>
              <a:r>
                <a:rPr lang="en-US" sz="10000" spc="-299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Proyecto de </a:t>
              </a:r>
              <a:r>
                <a:rPr lang="es-MX" altLang="en-US" sz="10000" spc="-299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Estadística</a:t>
              </a:r>
              <a:endParaRPr lang="es-MX" altLang="en-US" sz="10000" spc="-299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104775"/>
              <a:ext cx="13017500" cy="62632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40"/>
                </a:lnSpc>
                <a:spcBef>
                  <a:spcPct val="0"/>
                </a:spcBef>
              </a:pPr>
              <a:r>
                <a:rPr lang="en-US" sz="2600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ANÁLISIS DE ANIMES</a:t>
              </a:r>
              <a:endParaRPr lang="en-US" sz="2600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endParaRP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457099" y="6286500"/>
            <a:ext cx="7194651" cy="1866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40"/>
              </a:lnSpc>
            </a:pPr>
            <a:r>
              <a:rPr lang="en-US" sz="2600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Integrantes :</a:t>
            </a:r>
            <a:endParaRPr lang="en-US" sz="2600">
              <a:solidFill>
                <a:srgbClr val="3D348B"/>
              </a:solidFill>
              <a:latin typeface="TT Fors" panose="020B0003030001020000"/>
              <a:ea typeface="TT Fors" panose="020B0003030001020000"/>
              <a:cs typeface="TT Fors" panose="020B0003030001020000"/>
              <a:sym typeface="TT Fors" panose="020B0003030001020000"/>
            </a:endParaRPr>
          </a:p>
          <a:p>
            <a:pPr marL="0" lvl="0" indent="0" algn="l">
              <a:lnSpc>
                <a:spcPts val="3640"/>
              </a:lnSpc>
            </a:pPr>
            <a:r>
              <a:rPr lang="en-US" sz="2600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Dari</a:t>
            </a:r>
            <a:r>
              <a:rPr lang="es-MX" altLang="en-US" sz="2600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án Santamarina Hernández</a:t>
            </a:r>
            <a:br>
              <a:rPr lang="es-MX" altLang="en-US" sz="2600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</a:br>
            <a:r>
              <a:rPr lang="es-MX" altLang="en-US" sz="2600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Abel de la Noval Pérez</a:t>
            </a:r>
            <a:endParaRPr lang="es-MX" altLang="en-US" sz="2600">
              <a:solidFill>
                <a:srgbClr val="3D348B"/>
              </a:solidFill>
              <a:latin typeface="TT Fors" panose="020B0003030001020000"/>
              <a:ea typeface="TT Fors" panose="020B0003030001020000"/>
              <a:cs typeface="TT Fors" panose="020B0003030001020000"/>
              <a:sym typeface="TT Fors" panose="020B0003030001020000"/>
            </a:endParaRPr>
          </a:p>
          <a:p>
            <a:pPr marL="0" lvl="0" indent="0" algn="l">
              <a:lnSpc>
                <a:spcPts val="3640"/>
              </a:lnSpc>
            </a:pPr>
            <a:r>
              <a:rPr lang="es-MX" altLang="en-US" sz="2600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Frank Alberto Piz Torriente</a:t>
            </a:r>
            <a:endParaRPr lang="es-MX" altLang="en-US" sz="2600">
              <a:solidFill>
                <a:srgbClr val="3D348B"/>
              </a:solidFill>
              <a:latin typeface="TT Fors" panose="020B0003030001020000"/>
              <a:ea typeface="TT Fors" panose="020B0003030001020000"/>
              <a:cs typeface="TT Fors" panose="020B0003030001020000"/>
              <a:sym typeface="TT Fors" panose="020B000303000102000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348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66750" y="659765"/>
            <a:ext cx="11201400" cy="2044700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s-MX" altLang="en-US" sz="8000" u="none" strike="noStrike" spc="-240">
                <a:solidFill>
                  <a:srgbClr val="F9F4EF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Tema de Investigación del Proyecto</a:t>
            </a:r>
            <a:endParaRPr lang="es-MX" altLang="en-US" sz="8000" u="none" strike="noStrike" spc="-240">
              <a:solidFill>
                <a:srgbClr val="F9F4EF"/>
              </a:solidFill>
              <a:latin typeface="ITC Avant Garde Gothic" panose="020B0502020202020204"/>
              <a:ea typeface="ITC Avant Garde Gothic" panose="020B0502020202020204"/>
              <a:cs typeface="ITC Avant Garde Gothic" panose="020B0502020202020204"/>
              <a:sym typeface="ITC Avant Garde Gothic" panose="020B0502020202020204"/>
            </a:endParaRPr>
          </a:p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br>
              <a:rPr lang="es-MX" altLang="en-US" sz="8000" u="none" strike="noStrike" spc="-240">
                <a:solidFill>
                  <a:srgbClr val="F9F4EF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</a:br>
            <a:endParaRPr lang="es-MX" altLang="en-US" sz="8000" u="none" strike="noStrike" spc="-240">
              <a:solidFill>
                <a:srgbClr val="F9F4EF"/>
              </a:solidFill>
              <a:latin typeface="ITC Avant Garde Gothic" panose="020B0502020202020204"/>
              <a:ea typeface="ITC Avant Garde Gothic" panose="020B0502020202020204"/>
              <a:cs typeface="ITC Avant Garde Gothic" panose="020B0502020202020204"/>
              <a:sym typeface="ITC Avant Garde Gothic" panose="020B0502020202020204"/>
            </a:endParaRPr>
          </a:p>
        </p:txBody>
      </p:sp>
      <p:grpSp>
        <p:nvGrpSpPr>
          <p:cNvPr id="5" name="Group 5"/>
          <p:cNvGrpSpPr/>
          <p:nvPr/>
        </p:nvGrpSpPr>
        <p:grpSpPr>
          <a:xfrm rot="0">
            <a:off x="14744700" y="7829550"/>
            <a:ext cx="4846643" cy="1791955"/>
            <a:chOff x="0" y="0"/>
            <a:chExt cx="6462190" cy="238927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2036459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8" name="Freeform 8"/>
            <p:cNvSpPr/>
            <p:nvPr/>
          </p:nvSpPr>
          <p:spPr>
            <a:xfrm>
              <a:off x="4072917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2" name="Cuadro de texto 11"/>
          <p:cNvSpPr txBox="1"/>
          <p:nvPr/>
        </p:nvSpPr>
        <p:spPr>
          <a:xfrm>
            <a:off x="7482205" y="4710430"/>
            <a:ext cx="6096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es-MX" altLang="en-US"/>
          </a:p>
        </p:txBody>
      </p:sp>
      <p:sp>
        <p:nvSpPr>
          <p:cNvPr id="15" name="TextBox 7"/>
          <p:cNvSpPr txBox="1"/>
          <p:nvPr/>
        </p:nvSpPr>
        <p:spPr>
          <a:xfrm>
            <a:off x="609600" y="3314700"/>
            <a:ext cx="14262100" cy="37344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640"/>
              </a:lnSpc>
            </a:pPr>
            <a:r>
              <a:rPr lang="es-MX" altLang="en-US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 </a:t>
            </a:r>
            <a:r>
              <a:rPr lang="en-US" altLang="es-MX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El anime es un fen</a:t>
            </a:r>
            <a:r>
              <a:rPr lang="en-US" altLang="en-US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ó</a:t>
            </a:r>
            <a:r>
              <a:rPr lang="en-US" altLang="es-MX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meno cultural de alcance internacional, con una comunidad activa que participa constantemente en su evaluaci</a:t>
            </a:r>
            <a:r>
              <a:rPr lang="en-US" altLang="en-US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ó</a:t>
            </a:r>
            <a:r>
              <a:rPr lang="en-US" altLang="es-MX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n y difusi</a:t>
            </a:r>
            <a:r>
              <a:rPr lang="en-US" altLang="en-US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ó</a:t>
            </a:r>
            <a:r>
              <a:rPr lang="en-US" altLang="es-MX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n. MyAnimeList es una de las principales plataformas especializadas, donde los usuarios califican animes y determinan su nivel de popularidad. Dado que nuestro dataset proviene de MyAnimeList, este proyecto busca analizar la puntuaci</a:t>
            </a:r>
            <a:r>
              <a:rPr lang="en-US" altLang="en-US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ó</a:t>
            </a:r>
            <a:r>
              <a:rPr lang="en-US" altLang="es-MX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n promedio como un indicador del reconocimiento del p</a:t>
            </a:r>
            <a:r>
              <a:rPr lang="en-US" altLang="en-US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ú</a:t>
            </a:r>
            <a:r>
              <a:rPr lang="en-US" altLang="es-MX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blico. Estudiar los factores que influyen en dicha puntuaci</a:t>
            </a:r>
            <a:r>
              <a:rPr lang="en-US" altLang="en-US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ó</a:t>
            </a:r>
            <a:r>
              <a:rPr lang="en-US" altLang="es-MX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n permite comprender mejor c</a:t>
            </a:r>
            <a:r>
              <a:rPr lang="en-US" altLang="en-US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ó</a:t>
            </a:r>
            <a:r>
              <a:rPr lang="en-US" altLang="es-MX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mo caracter</a:t>
            </a:r>
            <a:r>
              <a:rPr lang="en-US" altLang="en-US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í</a:t>
            </a:r>
            <a:r>
              <a:rPr lang="en-US" altLang="es-MX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sticas como la popularidad y la participaci</a:t>
            </a:r>
            <a:r>
              <a:rPr lang="en-US" altLang="en-US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ó</a:t>
            </a:r>
            <a:r>
              <a:rPr lang="en-US" altLang="es-MX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n de los usuarios se relacionan con la percepci</a:t>
            </a:r>
            <a:r>
              <a:rPr lang="en-US" altLang="en-US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ó</a:t>
            </a:r>
            <a:r>
              <a:rPr lang="en-US" altLang="es-MX" sz="2600">
                <a:solidFill>
                  <a:schemeClr val="bg2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n de calidad de los animes.</a:t>
            </a:r>
            <a:endParaRPr lang="es-MX" altLang="en-US" sz="2600">
              <a:solidFill>
                <a:schemeClr val="bg2"/>
              </a:solidFill>
              <a:latin typeface="TT Fors" panose="020B0003030001020000"/>
              <a:ea typeface="TT Fors" panose="020B0003030001020000"/>
              <a:cs typeface="TT Fors" panose="020B0003030001020000"/>
              <a:sym typeface="TT Fors" panose="020B000303000102000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666750" y="5988844"/>
            <a:ext cx="4010025" cy="1292066"/>
            <a:chOff x="0" y="-66675"/>
            <a:chExt cx="5346700" cy="1722755"/>
          </a:xfrm>
        </p:grpSpPr>
        <p:sp>
          <p:nvSpPr>
            <p:cNvPr id="3" name="TextBox 3"/>
            <p:cNvSpPr txBox="1"/>
            <p:nvPr/>
          </p:nvSpPr>
          <p:spPr>
            <a:xfrm>
              <a:off x="0" y="1154007"/>
              <a:ext cx="5346700" cy="50207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40"/>
                </a:lnSpc>
              </a:pPr>
              <a:r>
                <a:rPr lang="en-US" altLang="es-MX" sz="2100" spc="-52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MyAnimeList</a:t>
              </a:r>
              <a:endParaRPr lang="en-US" altLang="es-MX" sz="2100" spc="-52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66675"/>
              <a:ext cx="3429000" cy="65616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1" indent="0" algn="l">
                <a:lnSpc>
                  <a:spcPts val="3840"/>
                </a:lnSpc>
                <a:spcBef>
                  <a:spcPct val="0"/>
                </a:spcBef>
              </a:pPr>
              <a:r>
                <a:rPr lang="es-MX" altLang="en-US" sz="32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Dataset</a:t>
              </a:r>
              <a:r>
                <a:rPr lang="en-US" altLang="es-MX" sz="32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 :</a:t>
              </a:r>
              <a:endParaRPr lang="en-US" altLang="es-MX" sz="32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0">
            <a:off x="6343650" y="5988844"/>
            <a:ext cx="4010025" cy="1669256"/>
            <a:chOff x="0" y="-66675"/>
            <a:chExt cx="5346700" cy="2225675"/>
          </a:xfrm>
        </p:grpSpPr>
        <p:sp>
          <p:nvSpPr>
            <p:cNvPr id="6" name="TextBox 6"/>
            <p:cNvSpPr txBox="1"/>
            <p:nvPr/>
          </p:nvSpPr>
          <p:spPr>
            <a:xfrm>
              <a:off x="0" y="1154007"/>
              <a:ext cx="5346700" cy="10049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40"/>
                </a:lnSpc>
              </a:pPr>
              <a:r>
                <a:rPr lang="en-US" altLang="es-MX" sz="2100" spc="-52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Puntuaci</a:t>
              </a:r>
              <a:r>
                <a:rPr lang="en-US" altLang="en-US" sz="2100" spc="-52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ó</a:t>
              </a:r>
              <a:r>
                <a:rPr lang="en-US" altLang="es-MX" sz="2100" spc="-52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n, n</a:t>
              </a:r>
              <a:r>
                <a:rPr lang="en-US" altLang="en-US" sz="2100" spc="-52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ú</a:t>
              </a:r>
              <a:r>
                <a:rPr lang="en-US" altLang="es-MX" sz="2100" spc="-52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mero de episodios, duraci</a:t>
              </a:r>
              <a:r>
                <a:rPr lang="en-US" altLang="en-US" sz="2100" spc="-52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ó</a:t>
              </a:r>
              <a:r>
                <a:rPr lang="en-US" altLang="es-MX" sz="2100" spc="-52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n, popularidad, miembros</a:t>
              </a:r>
              <a:r>
                <a:rPr lang="en-US" sz="2100" spc="-52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.</a:t>
              </a:r>
              <a:endParaRPr lang="en-US" sz="2100" spc="-52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endParaRP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66675"/>
              <a:ext cx="3429000" cy="13131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1" indent="0" algn="l">
                <a:lnSpc>
                  <a:spcPts val="3840"/>
                </a:lnSpc>
                <a:spcBef>
                  <a:spcPct val="0"/>
                </a:spcBef>
              </a:pPr>
              <a:r>
                <a:rPr lang="en-US" altLang="es-MX" sz="32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Variables analizadas:</a:t>
              </a:r>
              <a:endParaRPr lang="en-US" altLang="es-MX" sz="32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endParaRPr>
            </a:p>
          </p:txBody>
        </p:sp>
      </p:grpSp>
      <p:grpSp>
        <p:nvGrpSpPr>
          <p:cNvPr id="8" name="Group 8"/>
          <p:cNvGrpSpPr/>
          <p:nvPr/>
        </p:nvGrpSpPr>
        <p:grpSpPr>
          <a:xfrm rot="0">
            <a:off x="12172950" y="5988844"/>
            <a:ext cx="4010025" cy="2046447"/>
            <a:chOff x="0" y="-66675"/>
            <a:chExt cx="5346700" cy="2728596"/>
          </a:xfrm>
        </p:grpSpPr>
        <p:sp>
          <p:nvSpPr>
            <p:cNvPr id="9" name="TextBox 9"/>
            <p:cNvSpPr txBox="1"/>
            <p:nvPr/>
          </p:nvSpPr>
          <p:spPr>
            <a:xfrm>
              <a:off x="0" y="1154007"/>
              <a:ext cx="5346700" cy="150791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40"/>
                </a:lnSpc>
              </a:pPr>
              <a:r>
                <a:rPr lang="en-US" altLang="es-MX" sz="2100" spc="-52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- Regresi</a:t>
              </a:r>
              <a:r>
                <a:rPr lang="en-US" altLang="en-US" sz="2100" spc="-52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ó</a:t>
              </a:r>
              <a:r>
                <a:rPr lang="en-US" altLang="es-MX" sz="2100" spc="-52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n lineal m</a:t>
              </a:r>
              <a:r>
                <a:rPr lang="en-US" altLang="en-US" sz="2100" spc="-52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ú</a:t>
              </a:r>
              <a:r>
                <a:rPr lang="en-US" altLang="es-MX" sz="2100" spc="-52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ltiple (OLS)</a:t>
              </a:r>
              <a:endParaRPr lang="en-US" altLang="es-MX" sz="2100" spc="-52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endParaRPr>
            </a:p>
            <a:p>
              <a:pPr marL="0" lvl="0" indent="0" algn="l">
                <a:lnSpc>
                  <a:spcPts val="2940"/>
                </a:lnSpc>
              </a:pPr>
              <a:r>
                <a:rPr lang="en-US" altLang="en-US" sz="2100" spc="-52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- </a:t>
              </a:r>
              <a:r>
                <a:rPr lang="en-US" altLang="es-MX" sz="2100" spc="-52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ANOVA</a:t>
              </a:r>
              <a:endParaRPr lang="en-US" altLang="es-MX" sz="2100" spc="-52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endParaRPr>
            </a:p>
            <a:p>
              <a:pPr marL="0" lvl="0" indent="0" algn="l">
                <a:lnSpc>
                  <a:spcPts val="2940"/>
                </a:lnSpc>
              </a:pPr>
              <a:r>
                <a:rPr lang="en-US" altLang="es-MX" sz="2100" spc="-52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- An</a:t>
              </a:r>
              <a:r>
                <a:rPr lang="en-US" altLang="en-US" sz="2100" spc="-52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á</a:t>
              </a:r>
              <a:r>
                <a:rPr lang="en-US" altLang="es-MX" sz="2100" spc="-52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lisis de clustering</a:t>
              </a:r>
              <a:endParaRPr lang="en-US" altLang="es-MX" sz="2100" spc="-52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endParaRP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66675"/>
              <a:ext cx="3429000" cy="13131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1" indent="0" algn="l">
                <a:lnSpc>
                  <a:spcPts val="3840"/>
                </a:lnSpc>
                <a:spcBef>
                  <a:spcPct val="0"/>
                </a:spcBef>
              </a:pPr>
              <a:r>
                <a:rPr lang="en-US" altLang="es-MX" sz="32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T</a:t>
              </a:r>
              <a:r>
                <a:rPr lang="en-US" altLang="en-US" sz="32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é</a:t>
              </a:r>
              <a:r>
                <a:rPr lang="en-US" altLang="es-MX" sz="32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cnicas aplicadas:</a:t>
              </a:r>
              <a:endParaRPr lang="en-US" altLang="es-MX" sz="32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endParaRP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4114800" y="114300"/>
            <a:ext cx="14077950" cy="1025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sz="8000" u="none" strike="noStrike" spc="-240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Metodolog</a:t>
            </a:r>
            <a:r>
              <a:rPr lang="es-MX" sz="8000" u="none" strike="noStrike" spc="-240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ía</a:t>
            </a:r>
            <a:endParaRPr lang="es-MX" sz="8000" u="none" strike="noStrike" spc="-240">
              <a:solidFill>
                <a:srgbClr val="3D348B"/>
              </a:solidFill>
              <a:latin typeface="ITC Avant Garde Gothic" panose="020B0502020202020204"/>
              <a:ea typeface="ITC Avant Garde Gothic" panose="020B0502020202020204"/>
              <a:cs typeface="ITC Avant Garde Gothic" panose="020B0502020202020204"/>
              <a:sym typeface="ITC Avant Garde Gothic" panose="020B0502020202020204"/>
            </a:endParaRPr>
          </a:p>
        </p:txBody>
      </p:sp>
      <p:grpSp>
        <p:nvGrpSpPr>
          <p:cNvPr id="12" name="Group 12"/>
          <p:cNvGrpSpPr/>
          <p:nvPr/>
        </p:nvGrpSpPr>
        <p:grpSpPr>
          <a:xfrm rot="0">
            <a:off x="666750" y="5143500"/>
            <a:ext cx="819150" cy="446049"/>
            <a:chOff x="0" y="0"/>
            <a:chExt cx="1092200" cy="594732"/>
          </a:xfrm>
        </p:grpSpPr>
        <p:sp>
          <p:nvSpPr>
            <p:cNvPr id="13" name="Freeform 13"/>
            <p:cNvSpPr/>
            <p:nvPr/>
          </p:nvSpPr>
          <p:spPr>
            <a:xfrm>
              <a:off x="497468" y="0"/>
              <a:ext cx="594732" cy="594732"/>
            </a:xfrm>
            <a:custGeom>
              <a:avLst/>
              <a:gdLst/>
              <a:ahLst/>
              <a:cxnLst/>
              <a:rect l="l" t="t" r="r" b="b"/>
              <a:pathLst>
                <a:path w="594732" h="594732">
                  <a:moveTo>
                    <a:pt x="0" y="0"/>
                  </a:moveTo>
                  <a:lnTo>
                    <a:pt x="594732" y="0"/>
                  </a:lnTo>
                  <a:lnTo>
                    <a:pt x="594732" y="594732"/>
                  </a:lnTo>
                  <a:lnTo>
                    <a:pt x="0" y="594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4" name="Freeform 14"/>
            <p:cNvSpPr/>
            <p:nvPr/>
          </p:nvSpPr>
          <p:spPr>
            <a:xfrm>
              <a:off x="0" y="0"/>
              <a:ext cx="594732" cy="594732"/>
            </a:xfrm>
            <a:custGeom>
              <a:avLst/>
              <a:gdLst/>
              <a:ahLst/>
              <a:cxnLst/>
              <a:rect l="l" t="t" r="r" b="b"/>
              <a:pathLst>
                <a:path w="594732" h="594732">
                  <a:moveTo>
                    <a:pt x="0" y="0"/>
                  </a:moveTo>
                  <a:lnTo>
                    <a:pt x="594732" y="0"/>
                  </a:lnTo>
                  <a:lnTo>
                    <a:pt x="594732" y="594732"/>
                  </a:lnTo>
                  <a:lnTo>
                    <a:pt x="0" y="594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15" name="Group 15"/>
          <p:cNvGrpSpPr/>
          <p:nvPr/>
        </p:nvGrpSpPr>
        <p:grpSpPr>
          <a:xfrm rot="0">
            <a:off x="6419850" y="5143500"/>
            <a:ext cx="819150" cy="446049"/>
            <a:chOff x="0" y="0"/>
            <a:chExt cx="1092200" cy="594732"/>
          </a:xfrm>
        </p:grpSpPr>
        <p:sp>
          <p:nvSpPr>
            <p:cNvPr id="16" name="Freeform 16"/>
            <p:cNvSpPr/>
            <p:nvPr/>
          </p:nvSpPr>
          <p:spPr>
            <a:xfrm>
              <a:off x="497468" y="0"/>
              <a:ext cx="594732" cy="594732"/>
            </a:xfrm>
            <a:custGeom>
              <a:avLst/>
              <a:gdLst/>
              <a:ahLst/>
              <a:cxnLst/>
              <a:rect l="l" t="t" r="r" b="b"/>
              <a:pathLst>
                <a:path w="594732" h="594732">
                  <a:moveTo>
                    <a:pt x="0" y="0"/>
                  </a:moveTo>
                  <a:lnTo>
                    <a:pt x="594732" y="0"/>
                  </a:lnTo>
                  <a:lnTo>
                    <a:pt x="594732" y="594732"/>
                  </a:lnTo>
                  <a:lnTo>
                    <a:pt x="0" y="594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0" y="0"/>
              <a:ext cx="594732" cy="594732"/>
            </a:xfrm>
            <a:custGeom>
              <a:avLst/>
              <a:gdLst/>
              <a:ahLst/>
              <a:cxnLst/>
              <a:rect l="l" t="t" r="r" b="b"/>
              <a:pathLst>
                <a:path w="594732" h="594732">
                  <a:moveTo>
                    <a:pt x="0" y="0"/>
                  </a:moveTo>
                  <a:lnTo>
                    <a:pt x="594732" y="0"/>
                  </a:lnTo>
                  <a:lnTo>
                    <a:pt x="594732" y="594732"/>
                  </a:lnTo>
                  <a:lnTo>
                    <a:pt x="0" y="594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18" name="Group 18"/>
          <p:cNvGrpSpPr/>
          <p:nvPr/>
        </p:nvGrpSpPr>
        <p:grpSpPr>
          <a:xfrm rot="0">
            <a:off x="12172950" y="5143500"/>
            <a:ext cx="819150" cy="446049"/>
            <a:chOff x="0" y="0"/>
            <a:chExt cx="1092200" cy="594732"/>
          </a:xfrm>
        </p:grpSpPr>
        <p:sp>
          <p:nvSpPr>
            <p:cNvPr id="19" name="Freeform 19"/>
            <p:cNvSpPr/>
            <p:nvPr/>
          </p:nvSpPr>
          <p:spPr>
            <a:xfrm>
              <a:off x="497468" y="0"/>
              <a:ext cx="594732" cy="594732"/>
            </a:xfrm>
            <a:custGeom>
              <a:avLst/>
              <a:gdLst/>
              <a:ahLst/>
              <a:cxnLst/>
              <a:rect l="l" t="t" r="r" b="b"/>
              <a:pathLst>
                <a:path w="594732" h="594732">
                  <a:moveTo>
                    <a:pt x="0" y="0"/>
                  </a:moveTo>
                  <a:lnTo>
                    <a:pt x="594732" y="0"/>
                  </a:lnTo>
                  <a:lnTo>
                    <a:pt x="594732" y="594732"/>
                  </a:lnTo>
                  <a:lnTo>
                    <a:pt x="0" y="594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0" y="0"/>
              <a:ext cx="594732" cy="594732"/>
            </a:xfrm>
            <a:custGeom>
              <a:avLst/>
              <a:gdLst/>
              <a:ahLst/>
              <a:cxnLst/>
              <a:rect l="l" t="t" r="r" b="b"/>
              <a:pathLst>
                <a:path w="594732" h="594732">
                  <a:moveTo>
                    <a:pt x="0" y="0"/>
                  </a:moveTo>
                  <a:lnTo>
                    <a:pt x="594732" y="0"/>
                  </a:lnTo>
                  <a:lnTo>
                    <a:pt x="594732" y="594732"/>
                  </a:lnTo>
                  <a:lnTo>
                    <a:pt x="0" y="5947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</p:grpSp>
      <p:sp>
        <p:nvSpPr>
          <p:cNvPr id="22" name="TextBox 6"/>
          <p:cNvSpPr txBox="1"/>
          <p:nvPr/>
        </p:nvSpPr>
        <p:spPr>
          <a:xfrm>
            <a:off x="4953000" y="8648700"/>
            <a:ext cx="9035415" cy="7537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940"/>
              </a:lnSpc>
            </a:pPr>
            <a:r>
              <a:rPr lang="en-US" altLang="es-MX" sz="2100" spc="-52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Enfoque: cuantitativo y exploratorio, orientado a identificar patrones y diferencias entre tipos de anime.</a:t>
            </a:r>
            <a:endParaRPr lang="en-US" altLang="es-MX" sz="2100" spc="-52">
              <a:solidFill>
                <a:srgbClr val="3D348B"/>
              </a:solidFill>
              <a:latin typeface="TT Fors" panose="020B0003030001020000"/>
              <a:ea typeface="TT Fors" panose="020B0003030001020000"/>
              <a:cs typeface="TT Fors" panose="020B0003030001020000"/>
              <a:sym typeface="TT Fors" panose="020B0003030001020000"/>
            </a:endParaRPr>
          </a:p>
        </p:txBody>
      </p:sp>
      <p:pic>
        <p:nvPicPr>
          <p:cNvPr id="23" name="Imagen 22" descr="personajes-de-jujutsu-kaisen_3840x2160_xtrafondos.co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20" y="979170"/>
            <a:ext cx="17787620" cy="48266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66750" y="659765"/>
            <a:ext cx="6886575" cy="2051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s-MX" altLang="en-US" sz="8000" u="none" strike="noStrike" spc="-240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Preguntas de Investigación</a:t>
            </a:r>
            <a:endParaRPr lang="es-MX" altLang="en-US" sz="8000" u="none" strike="noStrike" spc="-240">
              <a:solidFill>
                <a:srgbClr val="3D348B"/>
              </a:solidFill>
              <a:latin typeface="ITC Avant Garde Gothic" panose="020B0502020202020204"/>
              <a:ea typeface="ITC Avant Garde Gothic" panose="020B0502020202020204"/>
              <a:cs typeface="ITC Avant Garde Gothic" panose="020B0502020202020204"/>
              <a:sym typeface="ITC Avant Garde Gothic" panose="020B0502020202020204"/>
            </a:endParaRPr>
          </a:p>
        </p:txBody>
      </p:sp>
      <p:grpSp>
        <p:nvGrpSpPr>
          <p:cNvPr id="5" name="Group 5"/>
          <p:cNvGrpSpPr/>
          <p:nvPr>
            <p:custDataLst>
              <p:tags r:id="rId1"/>
            </p:custDataLst>
          </p:nvPr>
        </p:nvGrpSpPr>
        <p:grpSpPr>
          <a:xfrm rot="0">
            <a:off x="9296400" y="1483519"/>
            <a:ext cx="6886575" cy="1699101"/>
            <a:chOff x="0" y="-104775"/>
            <a:chExt cx="9182100" cy="2265468"/>
          </a:xfrm>
        </p:grpSpPr>
        <p:sp>
          <p:nvSpPr>
            <p:cNvPr id="6" name="TextBox 6"/>
            <p:cNvSpPr txBox="1"/>
            <p:nvPr>
              <p:custDataLst>
                <p:tags r:id="rId2"/>
              </p:custDataLst>
            </p:nvPr>
          </p:nvSpPr>
          <p:spPr>
            <a:xfrm>
              <a:off x="0" y="1155700"/>
              <a:ext cx="9182100" cy="10049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40"/>
                </a:lnSpc>
                <a:spcBef>
                  <a:spcPct val="0"/>
                </a:spcBef>
              </a:pPr>
              <a:r>
                <a:rPr lang="en-US" altLang="es-MX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 </a:t>
              </a:r>
              <a:r>
                <a:rPr lang="en-US" altLang="en-US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¿</a:t>
              </a:r>
              <a:r>
                <a:rPr lang="en-US" altLang="es-MX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Qu</a:t>
              </a:r>
              <a:r>
                <a:rPr lang="en-US" altLang="en-US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é</a:t>
              </a:r>
              <a:r>
                <a:rPr lang="en-US" altLang="es-MX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 factores explican la Puntuaci</a:t>
              </a:r>
              <a:r>
                <a:rPr lang="en-US" altLang="en-US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ó</a:t>
              </a:r>
              <a:r>
                <a:rPr lang="en-US" altLang="es-MX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n promedio que recibe un anime en MyAnimeList?</a:t>
              </a:r>
              <a:endParaRPr lang="en-US" altLang="es-MX" sz="2100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endParaRPr>
            </a:p>
          </p:txBody>
        </p:sp>
        <p:sp>
          <p:nvSpPr>
            <p:cNvPr id="7" name="TextBox 7"/>
            <p:cNvSpPr txBox="1"/>
            <p:nvPr>
              <p:custDataLst>
                <p:tags r:id="rId3"/>
              </p:custDataLst>
            </p:nvPr>
          </p:nvSpPr>
          <p:spPr>
            <a:xfrm>
              <a:off x="0" y="-104775"/>
              <a:ext cx="9182100" cy="622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40"/>
                </a:lnSpc>
                <a:spcBef>
                  <a:spcPct val="0"/>
                </a:spcBef>
              </a:pPr>
              <a:r>
                <a:rPr lang="es-MX" altLang="en-US" sz="2600" u="none" strike="noStrike" spc="-78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Pregunta 1 </a:t>
              </a:r>
              <a:r>
                <a:rPr lang="en-US" altLang="es-MX" sz="2600" u="none" strike="noStrike" spc="-78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: Regresi</a:t>
              </a:r>
              <a:r>
                <a:rPr lang="es-MX" altLang="en-US" sz="2600" u="none" strike="noStrike" spc="-78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ó</a:t>
              </a:r>
              <a:r>
                <a:rPr lang="en-US" altLang="es-MX" sz="2600" u="none" strike="noStrike" spc="-78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n Lineal</a:t>
              </a:r>
              <a:endParaRPr lang="en-US" altLang="es-MX" sz="2600" u="none" strike="noStrike" spc="-78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endParaRPr>
            </a:p>
          </p:txBody>
        </p:sp>
      </p:grpSp>
      <p:grpSp>
        <p:nvGrpSpPr>
          <p:cNvPr id="8" name="Group 8"/>
          <p:cNvGrpSpPr/>
          <p:nvPr>
            <p:custDataLst>
              <p:tags r:id="rId4"/>
            </p:custDataLst>
          </p:nvPr>
        </p:nvGrpSpPr>
        <p:grpSpPr>
          <a:xfrm rot="0">
            <a:off x="9296400" y="4169569"/>
            <a:ext cx="6886575" cy="1699101"/>
            <a:chOff x="0" y="-104775"/>
            <a:chExt cx="9182100" cy="2265468"/>
          </a:xfrm>
        </p:grpSpPr>
        <p:sp>
          <p:nvSpPr>
            <p:cNvPr id="9" name="TextBox 9"/>
            <p:cNvSpPr txBox="1"/>
            <p:nvPr>
              <p:custDataLst>
                <p:tags r:id="rId5"/>
              </p:custDataLst>
            </p:nvPr>
          </p:nvSpPr>
          <p:spPr>
            <a:xfrm>
              <a:off x="0" y="1155700"/>
              <a:ext cx="9182100" cy="10049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40"/>
                </a:lnSpc>
                <a:spcBef>
                  <a:spcPct val="0"/>
                </a:spcBef>
              </a:pPr>
              <a:r>
                <a:rPr lang="en-US" altLang="en-US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¿</a:t>
              </a:r>
              <a:r>
                <a:rPr lang="en-US" altLang="es-MX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Existen diferencias estad</a:t>
              </a:r>
              <a:r>
                <a:rPr lang="en-US" altLang="en-US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í</a:t>
              </a:r>
              <a:r>
                <a:rPr lang="en-US" altLang="es-MX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sticamente significativas en la Puntuaci</a:t>
              </a:r>
              <a:r>
                <a:rPr lang="en-US" altLang="en-US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ó</a:t>
              </a:r>
              <a:r>
                <a:rPr lang="en-US" altLang="es-MX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n entre distintos tipos de anime?</a:t>
              </a:r>
              <a:endParaRPr lang="en-US" altLang="es-MX" sz="2100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endParaRPr>
            </a:p>
          </p:txBody>
        </p:sp>
        <p:sp>
          <p:nvSpPr>
            <p:cNvPr id="10" name="TextBox 10"/>
            <p:cNvSpPr txBox="1"/>
            <p:nvPr>
              <p:custDataLst>
                <p:tags r:id="rId6"/>
              </p:custDataLst>
            </p:nvPr>
          </p:nvSpPr>
          <p:spPr>
            <a:xfrm>
              <a:off x="0" y="-104775"/>
              <a:ext cx="9182100" cy="622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40"/>
                </a:lnSpc>
                <a:spcBef>
                  <a:spcPct val="0"/>
                </a:spcBef>
              </a:pPr>
              <a:r>
                <a:rPr lang="es-MX" altLang="en-US" sz="2600" u="none" strike="noStrike" spc="-78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P</a:t>
              </a:r>
              <a:r>
                <a:rPr lang="es-MX" altLang="en-US" sz="2600" spc="-78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regunta 2 </a:t>
              </a:r>
              <a:r>
                <a:rPr lang="en-US" altLang="es-MX" sz="2600" spc="-78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: </a:t>
              </a:r>
              <a:r>
                <a:rPr lang="es-MX" altLang="en-US" sz="2600" spc="-78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ANOVA</a:t>
              </a:r>
              <a:endParaRPr lang="es-MX" altLang="en-US" sz="2600" u="none" strike="noStrike" spc="-78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endParaRPr>
            </a:p>
          </p:txBody>
        </p:sp>
      </p:grpSp>
      <p:grpSp>
        <p:nvGrpSpPr>
          <p:cNvPr id="11" name="Group 11"/>
          <p:cNvGrpSpPr/>
          <p:nvPr>
            <p:custDataLst>
              <p:tags r:id="rId7"/>
            </p:custDataLst>
          </p:nvPr>
        </p:nvGrpSpPr>
        <p:grpSpPr>
          <a:xfrm rot="0">
            <a:off x="9296400" y="6859429"/>
            <a:ext cx="6886575" cy="2076291"/>
            <a:chOff x="0" y="-104775"/>
            <a:chExt cx="9182100" cy="2768388"/>
          </a:xfrm>
        </p:grpSpPr>
        <p:sp>
          <p:nvSpPr>
            <p:cNvPr id="12" name="TextBox 12"/>
            <p:cNvSpPr txBox="1"/>
            <p:nvPr>
              <p:custDataLst>
                <p:tags r:id="rId8"/>
              </p:custDataLst>
            </p:nvPr>
          </p:nvSpPr>
          <p:spPr>
            <a:xfrm>
              <a:off x="0" y="1155700"/>
              <a:ext cx="9182100" cy="150791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40"/>
                </a:lnSpc>
                <a:spcBef>
                  <a:spcPct val="0"/>
                </a:spcBef>
              </a:pPr>
              <a:r>
                <a:rPr lang="en-US" altLang="en-US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¿</a:t>
              </a:r>
              <a:r>
                <a:rPr lang="en-US" altLang="es-MX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Es posible agrupar animes en clusters basados en caracter</a:t>
              </a:r>
              <a:r>
                <a:rPr lang="en-US" altLang="en-US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í</a:t>
              </a:r>
              <a:r>
                <a:rPr lang="en-US" altLang="es-MX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sticas como n</a:t>
              </a:r>
              <a:r>
                <a:rPr lang="en-US" altLang="en-US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ú</a:t>
              </a:r>
              <a:r>
                <a:rPr lang="en-US" altLang="es-MX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mero de episodios, popularidad, miembros, puntuaci</a:t>
              </a:r>
              <a:r>
                <a:rPr lang="en-US" altLang="en-US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ó</a:t>
              </a:r>
              <a:r>
                <a:rPr lang="en-US" altLang="es-MX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n y duraci</a:t>
              </a:r>
              <a:r>
                <a:rPr lang="en-US" altLang="en-US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ó</a:t>
              </a:r>
              <a:r>
                <a:rPr lang="en-US" altLang="es-MX" sz="21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n?</a:t>
              </a:r>
              <a:endParaRPr lang="en-US" altLang="es-MX" sz="2100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endParaRPr>
            </a:p>
          </p:txBody>
        </p:sp>
        <p:sp>
          <p:nvSpPr>
            <p:cNvPr id="13" name="TextBox 13"/>
            <p:cNvSpPr txBox="1"/>
            <p:nvPr>
              <p:custDataLst>
                <p:tags r:id="rId9"/>
              </p:custDataLst>
            </p:nvPr>
          </p:nvSpPr>
          <p:spPr>
            <a:xfrm>
              <a:off x="0" y="-104775"/>
              <a:ext cx="9182100" cy="622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640"/>
                </a:lnSpc>
                <a:spcBef>
                  <a:spcPct val="0"/>
                </a:spcBef>
              </a:pPr>
              <a:r>
                <a:rPr lang="es-MX" altLang="en-US" sz="2600" u="none" strike="noStrike" spc="-78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P</a:t>
              </a:r>
              <a:r>
                <a:rPr lang="es-MX" altLang="en-US" sz="2600" spc="-78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regunta 3 </a:t>
              </a:r>
              <a:r>
                <a:rPr lang="en-US" altLang="es-MX" sz="2600" spc="-78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: </a:t>
              </a:r>
              <a:r>
                <a:rPr lang="en-US" altLang="es-MX" sz="2600" u="none" strike="noStrike" spc="-78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 </a:t>
              </a:r>
              <a:r>
                <a:rPr lang="es-MX" altLang="en-US" sz="2600" u="none" strike="noStrike" spc="-78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C</a:t>
              </a:r>
              <a:r>
                <a:rPr lang="en-US" altLang="es-MX" sz="2600" u="none" strike="noStrike" spc="-78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lustering (K-Means)</a:t>
              </a:r>
              <a:endParaRPr lang="en-US" altLang="es-MX" sz="2600" u="none" strike="noStrike" spc="-78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endParaRPr>
            </a:p>
          </p:txBody>
        </p:sp>
      </p:grpSp>
      <p:grpSp>
        <p:nvGrpSpPr>
          <p:cNvPr id="14" name="Group 14"/>
          <p:cNvGrpSpPr/>
          <p:nvPr/>
        </p:nvGrpSpPr>
        <p:grpSpPr>
          <a:xfrm rot="0">
            <a:off x="-1303343" y="7829550"/>
            <a:ext cx="4846643" cy="1791955"/>
            <a:chOff x="0" y="0"/>
            <a:chExt cx="6462190" cy="238927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6" name="Freeform 16"/>
            <p:cNvSpPr/>
            <p:nvPr/>
          </p:nvSpPr>
          <p:spPr>
            <a:xfrm>
              <a:off x="2036459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17" name="Freeform 17"/>
            <p:cNvSpPr/>
            <p:nvPr/>
          </p:nvSpPr>
          <p:spPr>
            <a:xfrm>
              <a:off x="4072917" y="0"/>
              <a:ext cx="2389273" cy="2389273"/>
            </a:xfrm>
            <a:custGeom>
              <a:avLst/>
              <a:gdLst/>
              <a:ahLst/>
              <a:cxnLst/>
              <a:rect l="l" t="t" r="r" b="b"/>
              <a:pathLst>
                <a:path w="2389273" h="2389273">
                  <a:moveTo>
                    <a:pt x="0" y="0"/>
                  </a:moveTo>
                  <a:lnTo>
                    <a:pt x="2389273" y="0"/>
                  </a:lnTo>
                  <a:lnTo>
                    <a:pt x="2389273" y="2389273"/>
                  </a:lnTo>
                  <a:lnTo>
                    <a:pt x="0" y="23892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348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09600" y="647700"/>
            <a:ext cx="6886575" cy="8207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altLang="en-US" sz="80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Pregunta 1 :</a:t>
            </a:r>
            <a:endParaRPr lang="en-US" altLang="en-US" sz="8000" u="none" strike="noStrike" spc="-240">
              <a:solidFill>
                <a:srgbClr val="E3B505"/>
              </a:solidFill>
              <a:latin typeface="ITC Avant Garde Gothic" panose="020B0502020202020204"/>
              <a:ea typeface="ITC Avant Garde Gothic" panose="020B0502020202020204"/>
              <a:cs typeface="ITC Avant Garde Gothic" panose="020B0502020202020204"/>
              <a:sym typeface="ITC Avant Garde Gothic" panose="020B0502020202020204"/>
            </a:endParaRPr>
          </a:p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altLang="en-US" sz="80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¿</a:t>
            </a:r>
            <a:r>
              <a:rPr lang="en-US" altLang="es-MX" sz="80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Qu</a:t>
            </a:r>
            <a:r>
              <a:rPr lang="en-US" altLang="en-US" sz="80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é</a:t>
            </a:r>
            <a:r>
              <a:rPr lang="en-US" altLang="es-MX" sz="80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 factores explican la Puntuaci</a:t>
            </a:r>
            <a:r>
              <a:rPr lang="en-US" altLang="en-US" sz="80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ó</a:t>
            </a:r>
            <a:r>
              <a:rPr lang="en-US" altLang="es-MX" sz="80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n promedio que recibe un anime en MyAnimeList?</a:t>
            </a:r>
            <a:endParaRPr lang="en-US" altLang="es-MX" sz="8000" u="none" strike="noStrike" spc="-240">
              <a:solidFill>
                <a:srgbClr val="E3B505"/>
              </a:solidFill>
              <a:latin typeface="ITC Avant Garde Gothic" panose="020B0502020202020204"/>
              <a:ea typeface="ITC Avant Garde Gothic" panose="020B0502020202020204"/>
              <a:cs typeface="ITC Avant Garde Gothic" panose="020B0502020202020204"/>
              <a:sym typeface="ITC Avant Garde Gothic" panose="020B0502020202020204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8292465" y="2091055"/>
            <a:ext cx="8877300" cy="4775835"/>
          </a:xfrm>
          <a:prstGeom prst="rect">
            <a:avLst/>
          </a:prstGeom>
        </p:spPr>
        <p:txBody>
          <a:bodyPr wrap="square" lIns="0" tIns="0" rIns="0" bIns="0" rtlCol="0" anchor="t">
            <a:noAutofit/>
          </a:bodyPr>
          <a:lstStyle/>
          <a:p>
            <a:pPr marL="0" lvl="0" indent="0" algn="l">
              <a:lnSpc>
                <a:spcPts val="2940"/>
              </a:lnSpc>
              <a:spcBef>
                <a:spcPct val="0"/>
              </a:spcBef>
            </a:pPr>
            <a:r>
              <a:rPr lang="en-US" altLang="es-MX" sz="40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El modelo de regresi</a:t>
            </a:r>
            <a:r>
              <a:rPr lang="en-US" altLang="en-US" sz="40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ó</a:t>
            </a:r>
            <a:r>
              <a:rPr lang="en-US" altLang="es-MX" sz="40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n lineal m</a:t>
            </a:r>
            <a:r>
              <a:rPr lang="en-US" altLang="en-US" sz="40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ú</a:t>
            </a:r>
            <a:r>
              <a:rPr lang="en-US" altLang="es-MX" sz="40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ltiple presenta un R</a:t>
            </a:r>
            <a:r>
              <a:rPr lang="en-US" altLang="en-US" sz="40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²</a:t>
            </a:r>
            <a:r>
              <a:rPr lang="en-US" altLang="es-MX" sz="40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 ajustado de 0.59, indicando que una parte sustancial de la puntuaci</a:t>
            </a:r>
            <a:r>
              <a:rPr lang="en-US" altLang="en-US" sz="40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ó</a:t>
            </a:r>
            <a:r>
              <a:rPr lang="en-US" altLang="es-MX" sz="40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n promedio de los animes en MyAnimeList puede explicarse por variables estructurales, de popularidad y de clasificaci</a:t>
            </a:r>
            <a:r>
              <a:rPr lang="en-US" altLang="en-US" sz="40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ó</a:t>
            </a:r>
            <a:r>
              <a:rPr lang="en-US" altLang="es-MX" sz="40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n. Esto confirma que las valoraciones de los usuarios no son aleatorias, sino que responden a patrones sistem</a:t>
            </a:r>
            <a:r>
              <a:rPr lang="en-US" altLang="en-US" sz="40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á</a:t>
            </a:r>
            <a:r>
              <a:rPr lang="en-US" altLang="es-MX" sz="40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ticos observables en los datos.</a:t>
            </a:r>
            <a:endParaRPr lang="en-US" altLang="es-MX" sz="4000">
              <a:solidFill>
                <a:srgbClr val="F9F4EF"/>
              </a:solidFill>
              <a:latin typeface="TT Fors" panose="020B0003030001020000"/>
              <a:ea typeface="TT Fors" panose="020B0003030001020000"/>
              <a:cs typeface="TT Fors" panose="020B0003030001020000"/>
              <a:sym typeface="TT Fors" panose="020B000303000102000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381000" y="500855"/>
            <a:ext cx="9160510" cy="5444455"/>
            <a:chOff x="-76200" y="-322793"/>
            <a:chExt cx="12214013" cy="7259273"/>
          </a:xfrm>
        </p:grpSpPr>
        <p:sp>
          <p:nvSpPr>
            <p:cNvPr id="3" name="TextBox 3"/>
            <p:cNvSpPr txBox="1"/>
            <p:nvPr/>
          </p:nvSpPr>
          <p:spPr>
            <a:xfrm>
              <a:off x="-76200" y="-322793"/>
              <a:ext cx="12214013" cy="5709920"/>
            </a:xfrm>
            <a:prstGeom prst="rect">
              <a:avLst/>
            </a:prstGeom>
          </p:spPr>
          <p:txBody>
            <a:bodyPr lIns="0" tIns="0" rIns="0" bIns="0" rtlCol="0" anchor="t">
              <a:noAutofit/>
            </a:bodyPr>
            <a:lstStyle/>
            <a:p>
              <a:pPr marL="0" lvl="0" indent="0" algn="l">
                <a:lnSpc>
                  <a:spcPts val="2940"/>
                </a:lnSpc>
                <a:spcBef>
                  <a:spcPct val="0"/>
                </a:spcBef>
              </a:pPr>
              <a:endParaRPr lang="en-US" altLang="en-US" sz="6000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endParaRPr>
            </a:p>
            <a:p>
              <a:pPr marL="0" lvl="0" indent="0" algn="l">
                <a:lnSpc>
                  <a:spcPts val="2940"/>
                </a:lnSpc>
                <a:spcBef>
                  <a:spcPct val="0"/>
                </a:spcBef>
              </a:pPr>
              <a:r>
                <a:rPr lang="en-US" altLang="es-MX" sz="60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Ejemplos Concretos de la </a:t>
              </a:r>
              <a:endParaRPr lang="en-US" altLang="es-MX" sz="6000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endParaRPr>
            </a:p>
            <a:p>
              <a:pPr marL="0" lvl="0" indent="0" algn="l">
                <a:lnSpc>
                  <a:spcPts val="2940"/>
                </a:lnSpc>
                <a:spcBef>
                  <a:spcPct val="0"/>
                </a:spcBef>
              </a:pPr>
              <a:endParaRPr lang="en-US" altLang="es-MX" sz="6000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endParaRPr>
            </a:p>
            <a:p>
              <a:pPr marL="0" lvl="0" indent="0" algn="l">
                <a:lnSpc>
                  <a:spcPts val="2940"/>
                </a:lnSpc>
                <a:spcBef>
                  <a:spcPct val="0"/>
                </a:spcBef>
              </a:pPr>
              <a:r>
                <a:rPr lang="en-US" altLang="es-MX" sz="6000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Pregunta 1 :</a:t>
              </a:r>
              <a:endParaRPr lang="en-US" altLang="es-MX" sz="6000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endParaRPr>
            </a:p>
            <a:p>
              <a:pPr marL="0" lvl="0" indent="0" algn="l">
                <a:lnSpc>
                  <a:spcPts val="2940"/>
                </a:lnSpc>
                <a:spcBef>
                  <a:spcPct val="0"/>
                </a:spcBef>
              </a:pPr>
              <a:endParaRPr lang="en-US" altLang="es-MX" sz="8000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endParaRPr>
            </a:p>
            <a:p>
              <a:pPr marL="0" lvl="0" indent="0" algn="l">
                <a:lnSpc>
                  <a:spcPts val="2940"/>
                </a:lnSpc>
                <a:spcBef>
                  <a:spcPct val="0"/>
                </a:spcBef>
              </a:pPr>
              <a:endParaRPr lang="en-US" sz="8000" u="none" strike="noStrike" spc="-240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endParaRP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1041400" y="2412740"/>
              <a:ext cx="9182100" cy="45237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40"/>
                </a:lnSpc>
                <a:spcBef>
                  <a:spcPct val="0"/>
                </a:spcBef>
              </a:pPr>
              <a:r>
                <a:rPr lang="en-US" altLang="es-MX" sz="2100" u="none" strike="noStrike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Los resultados muestran que episodios m</a:t>
              </a:r>
              <a:r>
                <a:rPr lang="en-US" altLang="en-US" sz="2100" u="none" strike="noStrike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á</a:t>
              </a:r>
              <a:r>
                <a:rPr lang="en-US" altLang="es-MX" sz="2100" u="none" strike="noStrike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s largos se asocian con puntuaciones m</a:t>
              </a:r>
              <a:r>
                <a:rPr lang="en-US" altLang="en-US" sz="2100" u="none" strike="noStrike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á</a:t>
              </a:r>
              <a:r>
                <a:rPr lang="en-US" altLang="es-MX" sz="2100" u="none" strike="noStrike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s altas, lo que sugiere una preferencia por narrativas m</a:t>
              </a:r>
              <a:r>
                <a:rPr lang="en-US" altLang="en-US" sz="2100" u="none" strike="noStrike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á</a:t>
              </a:r>
              <a:r>
                <a:rPr lang="en-US" altLang="es-MX" sz="2100" u="none" strike="noStrike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s desarrolladas, como se observa en animes como Steins;Gate o Fullmetal Alchemist: Brotherhood. En contraste, un mayor n</a:t>
              </a:r>
              <a:r>
                <a:rPr lang="en-US" altLang="en-US" sz="2100" u="none" strike="noStrike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ú</a:t>
              </a:r>
              <a:r>
                <a:rPr lang="en-US" altLang="es-MX" sz="2100" u="none" strike="noStrike">
                  <a:solidFill>
                    <a:srgbClr val="3D348B"/>
                  </a:solidFill>
                  <a:latin typeface="TT Fors" panose="020B0003030001020000"/>
                  <a:ea typeface="TT Fors" panose="020B0003030001020000"/>
                  <a:cs typeface="TT Fors" panose="020B0003030001020000"/>
                  <a:sym typeface="TT Fors" panose="020B0003030001020000"/>
                </a:rPr>
                <a:t>mero de episodios presenta un efecto negativo leve, visible en series muy extensas como Naruto o Bleach, donde puede existir desgaste narrativo o mayor variabilidad en la calidad percibida.</a:t>
              </a:r>
              <a:endParaRPr lang="en-US" altLang="es-MX" sz="2100" u="none" strike="noStrike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endParaRPr>
            </a:p>
          </p:txBody>
        </p:sp>
      </p:grpSp>
      <p:grpSp>
        <p:nvGrpSpPr>
          <p:cNvPr id="6" name="Group 6"/>
          <p:cNvGrpSpPr/>
          <p:nvPr/>
        </p:nvGrpSpPr>
        <p:grpSpPr>
          <a:xfrm rot="0">
            <a:off x="10734675" y="0"/>
            <a:ext cx="7553325" cy="10287000"/>
            <a:chOff x="0" y="0"/>
            <a:chExt cx="1170208" cy="159372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70208" cy="1593725"/>
            </a:xfrm>
            <a:custGeom>
              <a:avLst/>
              <a:gdLst/>
              <a:ahLst/>
              <a:cxnLst/>
              <a:rect l="l" t="t" r="r" b="b"/>
              <a:pathLst>
                <a:path w="1170208" h="1593725">
                  <a:moveTo>
                    <a:pt x="0" y="0"/>
                  </a:moveTo>
                  <a:lnTo>
                    <a:pt x="1170208" y="0"/>
                  </a:lnTo>
                  <a:lnTo>
                    <a:pt x="1170208" y="1593725"/>
                  </a:lnTo>
                  <a:lnTo>
                    <a:pt x="0" y="1593725"/>
                  </a:lnTo>
                  <a:close/>
                </a:path>
              </a:pathLst>
            </a:custGeom>
            <a:blipFill rotWithShape="1">
              <a:blip r:embed="rId1"/>
              <a:stretch>
                <a:fillRect t="-205" b="-205"/>
              </a:stretch>
            </a:blipFill>
          </p:spPr>
        </p:sp>
      </p:grpSp>
      <p:sp>
        <p:nvSpPr>
          <p:cNvPr id="8" name="TextBox 5"/>
          <p:cNvSpPr txBox="1"/>
          <p:nvPr/>
        </p:nvSpPr>
        <p:spPr>
          <a:xfrm>
            <a:off x="1346200" y="6286305"/>
            <a:ext cx="6886575" cy="3769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40"/>
              </a:lnSpc>
              <a:spcBef>
                <a:spcPct val="0"/>
              </a:spcBef>
            </a:pPr>
            <a:r>
              <a:rPr lang="en-US" altLang="es-MX" sz="2100" u="none" strike="noStrike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La popularidad juega un rol ambivalente: animes con muchos miembros tienden a recibir mejores puntuaciones, pero una masificaci</a:t>
            </a:r>
            <a:r>
              <a:rPr lang="en-US" altLang="en-US" sz="2100" u="none" strike="noStrike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ó</a:t>
            </a:r>
            <a:r>
              <a:rPr lang="en-US" altLang="es-MX" sz="2100" u="none" strike="noStrike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n excesiva genera valoraciones m</a:t>
            </a:r>
            <a:r>
              <a:rPr lang="en-US" altLang="en-US" sz="2100" u="none" strike="noStrike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á</a:t>
            </a:r>
            <a:r>
              <a:rPr lang="en-US" altLang="es-MX" sz="2100" u="none" strike="noStrike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s heterog</a:t>
            </a:r>
            <a:r>
              <a:rPr lang="en-US" altLang="en-US" sz="2100" u="none" strike="noStrike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é</a:t>
            </a:r>
            <a:r>
              <a:rPr lang="en-US" altLang="es-MX" sz="2100" u="none" strike="noStrike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neas, como en Sword Art Online o Tokyo Ghoul. Adem</a:t>
            </a:r>
            <a:r>
              <a:rPr lang="en-US" altLang="en-US" sz="2100" u="none" strike="noStrike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á</a:t>
            </a:r>
            <a:r>
              <a:rPr lang="en-US" altLang="es-MX" sz="2100" u="none" strike="noStrike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s, formatos como Music y Special (por ejemplo, Shelter) y adaptaciones de manga o novelas obtienen mejores puntuaciones, mientras que contenidos con clasificaci</a:t>
            </a:r>
            <a:r>
              <a:rPr lang="en-US" altLang="en-US" sz="2100" u="none" strike="noStrike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ó</a:t>
            </a:r>
            <a:r>
              <a:rPr lang="en-US" altLang="es-MX" sz="2100" u="none" strike="noStrike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n adulta (R/R+), como Devilman Crybaby, presentan puntuaciones promedio m</a:t>
            </a:r>
            <a:r>
              <a:rPr lang="en-US" altLang="en-US" sz="2100" u="none" strike="noStrike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á</a:t>
            </a:r>
            <a:r>
              <a:rPr lang="en-US" altLang="es-MX" sz="2100" u="none" strike="noStrike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s bajas.</a:t>
            </a:r>
            <a:r>
              <a:rPr lang="en-US" altLang="es-MX" sz="2100" u="none" strike="noStrike">
                <a:solidFill>
                  <a:srgbClr val="3D348B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.</a:t>
            </a:r>
            <a:endParaRPr lang="en-US" altLang="es-MX" sz="2100" u="none" strike="noStrike">
              <a:solidFill>
                <a:srgbClr val="3D348B"/>
              </a:solidFill>
              <a:latin typeface="TT Fors" panose="020B0003030001020000"/>
              <a:ea typeface="TT Fors" panose="020B0003030001020000"/>
              <a:cs typeface="TT Fors" panose="020B0003030001020000"/>
              <a:sym typeface="TT Fors" panose="020B000303000102000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348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28600" y="1028700"/>
            <a:ext cx="9178925" cy="7702550"/>
          </a:xfrm>
          <a:prstGeom prst="rect">
            <a:avLst/>
          </a:prstGeom>
        </p:spPr>
        <p:txBody>
          <a:bodyPr wrap="square" lIns="0" tIns="0" rIns="0" bIns="0" rtlCol="0" anchor="t">
            <a:noAutofit/>
          </a:bodyPr>
          <a:lstStyle/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sz="54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Pregunta 2 :</a:t>
            </a:r>
            <a:endParaRPr lang="en-US" sz="5400" u="none" strike="noStrike" spc="-240">
              <a:solidFill>
                <a:srgbClr val="E3B505"/>
              </a:solidFill>
              <a:latin typeface="ITC Avant Garde Gothic" panose="020B0502020202020204"/>
              <a:ea typeface="ITC Avant Garde Gothic" panose="020B0502020202020204"/>
              <a:cs typeface="ITC Avant Garde Gothic" panose="020B0502020202020204"/>
              <a:sym typeface="ITC Avant Garde Gothic" panose="020B0502020202020204"/>
            </a:endParaRPr>
          </a:p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altLang="en-US" sz="54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¿</a:t>
            </a:r>
            <a:r>
              <a:rPr lang="en-US" altLang="es-MX" sz="54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Existen diferencias estad</a:t>
            </a:r>
            <a:r>
              <a:rPr lang="en-US" altLang="en-US" sz="54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í</a:t>
            </a:r>
            <a:r>
              <a:rPr lang="en-US" altLang="es-MX" sz="54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sticamente significativas en la Puntuaci</a:t>
            </a:r>
            <a:r>
              <a:rPr lang="en-US" altLang="en-US" sz="54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ó</a:t>
            </a:r>
            <a:r>
              <a:rPr lang="en-US" altLang="es-MX" sz="54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n entre distintos tipos de anime?</a:t>
            </a:r>
            <a:endParaRPr lang="en-US" altLang="es-MX" sz="5400" u="none" strike="noStrike" spc="-240">
              <a:solidFill>
                <a:srgbClr val="E3B505"/>
              </a:solidFill>
              <a:latin typeface="ITC Avant Garde Gothic" panose="020B0502020202020204"/>
              <a:ea typeface="ITC Avant Garde Gothic" panose="020B0502020202020204"/>
              <a:cs typeface="ITC Avant Garde Gothic" panose="020B0502020202020204"/>
              <a:sym typeface="ITC Avant Garde Gothic" panose="020B05020202020202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9906000" y="2247900"/>
            <a:ext cx="7545705" cy="527812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2940"/>
              </a:lnSpc>
            </a:pPr>
            <a:r>
              <a:rPr lang="en-US" altLang="es-MX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El an</a:t>
            </a:r>
            <a:r>
              <a:rPr lang="en-US" altLang="en-US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á</a:t>
            </a:r>
            <a:r>
              <a:rPr lang="en-US" altLang="es-MX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lisis ANOVA de un factor muestra que existen diferencias estad</a:t>
            </a:r>
            <a:r>
              <a:rPr lang="en-US" altLang="en-US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í</a:t>
            </a:r>
            <a:r>
              <a:rPr lang="en-US" altLang="es-MX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sticamente significativas en la puntuaci</a:t>
            </a:r>
            <a:r>
              <a:rPr lang="en-US" altLang="en-US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ó</a:t>
            </a:r>
            <a:r>
              <a:rPr lang="en-US" altLang="es-MX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n promedio entre los distintos tipos de anime. A pesar de que los supuestos de normalidad y homocedasticidad no se cumplen estrictamente, los resultados son robustos, ya que la prueba no param</a:t>
            </a:r>
            <a:r>
              <a:rPr lang="en-US" altLang="en-US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é</a:t>
            </a:r>
            <a:r>
              <a:rPr lang="en-US" altLang="es-MX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trica de Kruskal-Wallis confirma las conclusiones del ANOVA. Adem</a:t>
            </a:r>
            <a:r>
              <a:rPr lang="en-US" altLang="en-US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á</a:t>
            </a:r>
            <a:r>
              <a:rPr lang="en-US" altLang="es-MX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s, el an</a:t>
            </a:r>
            <a:r>
              <a:rPr lang="en-US" altLang="en-US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á</a:t>
            </a:r>
            <a:r>
              <a:rPr lang="en-US" altLang="es-MX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lisis post-hoc (Tukey HSD) identifica diferencias espec</a:t>
            </a:r>
            <a:r>
              <a:rPr lang="en-US" altLang="en-US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í</a:t>
            </a:r>
            <a:r>
              <a:rPr lang="en-US" altLang="es-MX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ficas entre formatos, indicando que el tipo de anime explica una proporci</a:t>
            </a:r>
            <a:r>
              <a:rPr lang="en-US" altLang="en-US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ó</a:t>
            </a:r>
            <a:r>
              <a:rPr lang="en-US" altLang="es-MX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n relevante de la variabilidad en la puntuaci</a:t>
            </a:r>
            <a:r>
              <a:rPr lang="en-US" altLang="en-US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ó</a:t>
            </a:r>
            <a:r>
              <a:rPr lang="en-US" altLang="es-MX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n.</a:t>
            </a:r>
            <a:endParaRPr lang="en-US" altLang="es-MX" sz="2800">
              <a:solidFill>
                <a:srgbClr val="F9F4EF"/>
              </a:solidFill>
              <a:latin typeface="TT Fors" panose="020B0003030001020000"/>
              <a:ea typeface="TT Fors" panose="020B0003030001020000"/>
              <a:cs typeface="TT Fors" panose="020B0003030001020000"/>
              <a:sym typeface="TT Fors" panose="020B000303000102000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609600" y="659606"/>
            <a:ext cx="8382000" cy="9437688"/>
            <a:chOff x="-76200" y="-9525"/>
            <a:chExt cx="11176000" cy="12583584"/>
          </a:xfrm>
        </p:grpSpPr>
        <p:sp>
          <p:nvSpPr>
            <p:cNvPr id="3" name="TextBox 3"/>
            <p:cNvSpPr txBox="1"/>
            <p:nvPr/>
          </p:nvSpPr>
          <p:spPr>
            <a:xfrm>
              <a:off x="0" y="-9525"/>
              <a:ext cx="11099800" cy="41037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u="none" strike="noStrike" spc="-240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Ejemplos concretos de la Pregunta 2 </a:t>
              </a:r>
              <a:endParaRPr lang="en-US" sz="8000" u="none" strike="noStrike" spc="-240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-76200" y="4038812"/>
              <a:ext cx="11099800" cy="85352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40"/>
                </a:lnSpc>
                <a:spcBef>
                  <a:spcPct val="0"/>
                </a:spcBef>
              </a:pPr>
              <a:r>
                <a:rPr lang="en-US" altLang="es-MX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Las diferencias entre tipos de anime pueden observarse en casos representativos del dataset. Las pel</a:t>
              </a:r>
              <a:r>
                <a:rPr lang="en-US" altLang="en-US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í</a:t>
              </a:r>
              <a:r>
                <a:rPr lang="en-US" altLang="es-MX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culas suelen recibir puntuaciones m</a:t>
              </a:r>
              <a:r>
                <a:rPr lang="en-US" altLang="en-US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á</a:t>
              </a:r>
              <a:r>
                <a:rPr lang="en-US" altLang="es-MX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s altas, como Spirited Away o Your Name, posiblemente por su alta calidad t</a:t>
              </a:r>
              <a:r>
                <a:rPr lang="en-US" altLang="en-US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é</a:t>
              </a:r>
              <a:r>
                <a:rPr lang="en-US" altLang="es-MX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cnica y narrativa concentrada. Los especiales (Special) y OVAs tambi</a:t>
              </a:r>
              <a:r>
                <a:rPr lang="en-US" altLang="en-US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é</a:t>
              </a:r>
              <a:r>
                <a:rPr lang="en-US" altLang="es-MX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n destacan en valoraci</a:t>
              </a:r>
              <a:r>
                <a:rPr lang="en-US" altLang="en-US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ó</a:t>
              </a:r>
              <a:r>
                <a:rPr lang="en-US" altLang="es-MX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n, como Attack on Titan: Ilse’s Notebook. En contraste, las series de tipo TV, como Naruto o Bleach, presentan puntuaciones promedio m</a:t>
              </a:r>
              <a:r>
                <a:rPr lang="en-US" altLang="en-US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á</a:t>
              </a:r>
              <a:r>
                <a:rPr lang="en-US" altLang="es-MX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s moderadas, lo que puede reflejar mayores expectativas y mayor heterogeneidad en la experiencia del espectador a lo largo del tiempo.</a:t>
              </a:r>
              <a:endParaRPr lang="en-US" altLang="es-MX" sz="28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endParaRPr>
            </a:p>
          </p:txBody>
        </p:sp>
      </p:grpSp>
      <p:grpSp>
        <p:nvGrpSpPr>
          <p:cNvPr id="7" name="Group 7"/>
          <p:cNvGrpSpPr/>
          <p:nvPr/>
        </p:nvGrpSpPr>
        <p:grpSpPr>
          <a:xfrm rot="0">
            <a:off x="9742167" y="2"/>
            <a:ext cx="8545827" cy="10289542"/>
            <a:chOff x="-117582" y="-560826"/>
            <a:chExt cx="1012421" cy="1218998"/>
          </a:xfrm>
        </p:grpSpPr>
        <p:sp>
          <p:nvSpPr>
            <p:cNvPr id="8" name="Freeform 8"/>
            <p:cNvSpPr/>
            <p:nvPr/>
          </p:nvSpPr>
          <p:spPr>
            <a:xfrm>
              <a:off x="-117582" y="-560826"/>
              <a:ext cx="1012421" cy="1218998"/>
            </a:xfrm>
            <a:custGeom>
              <a:avLst/>
              <a:gdLst/>
              <a:ahLst/>
              <a:cxnLst/>
              <a:rect l="l" t="t" r="r" b="b"/>
              <a:pathLst>
                <a:path w="815850" h="578881">
                  <a:moveTo>
                    <a:pt x="0" y="0"/>
                  </a:moveTo>
                  <a:lnTo>
                    <a:pt x="815850" y="0"/>
                  </a:lnTo>
                  <a:lnTo>
                    <a:pt x="815850" y="578881"/>
                  </a:lnTo>
                  <a:lnTo>
                    <a:pt x="0" y="578881"/>
                  </a:lnTo>
                  <a:close/>
                </a:path>
              </a:pathLst>
            </a:custGeom>
            <a:blipFill rotWithShape="1">
              <a:blip r:embed="rId1"/>
              <a:stretch>
                <a:fillRect l="-144" r="-144"/>
              </a:stretch>
            </a:blipFill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348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09600" y="723900"/>
            <a:ext cx="6886575" cy="8207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altLang="en-US" sz="48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Pregunta 3 :</a:t>
            </a:r>
            <a:endParaRPr lang="en-US" altLang="en-US" sz="4800" u="none" strike="noStrike" spc="-240">
              <a:solidFill>
                <a:srgbClr val="E3B505"/>
              </a:solidFill>
              <a:latin typeface="ITC Avant Garde Gothic" panose="020B0502020202020204"/>
              <a:ea typeface="ITC Avant Garde Gothic" panose="020B0502020202020204"/>
              <a:cs typeface="ITC Avant Garde Gothic" panose="020B0502020202020204"/>
              <a:sym typeface="ITC Avant Garde Gothic" panose="020B0502020202020204"/>
            </a:endParaRPr>
          </a:p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altLang="en-US" sz="48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¿</a:t>
            </a:r>
            <a:r>
              <a:rPr lang="en-US" altLang="es-MX" sz="48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Es posible agrupar animes en clusters basados en caracter</a:t>
            </a:r>
            <a:r>
              <a:rPr lang="en-US" altLang="en-US" sz="48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í</a:t>
            </a:r>
            <a:r>
              <a:rPr lang="en-US" altLang="es-MX" sz="48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sticas como n</a:t>
            </a:r>
            <a:r>
              <a:rPr lang="en-US" altLang="en-US" sz="48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ú</a:t>
            </a:r>
            <a:r>
              <a:rPr lang="en-US" altLang="es-MX" sz="48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mero de episodios, popularidad, miembros, puntuaci</a:t>
            </a:r>
            <a:r>
              <a:rPr lang="en-US" altLang="en-US" sz="48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ó</a:t>
            </a:r>
            <a:r>
              <a:rPr lang="en-US" altLang="es-MX" sz="48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n y duraci</a:t>
            </a:r>
            <a:r>
              <a:rPr lang="en-US" altLang="en-US" sz="48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ó</a:t>
            </a:r>
            <a:r>
              <a:rPr lang="en-US" altLang="es-MX" sz="4800" u="none" strike="noStrike" spc="-240">
                <a:solidFill>
                  <a:srgbClr val="E3B505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n?</a:t>
            </a:r>
            <a:endParaRPr lang="en-US" altLang="es-MX" sz="4800" u="none" strike="noStrike" spc="-240">
              <a:solidFill>
                <a:srgbClr val="E3B505"/>
              </a:solidFill>
              <a:latin typeface="ITC Avant Garde Gothic" panose="020B0502020202020204"/>
              <a:ea typeface="ITC Avant Garde Gothic" panose="020B0502020202020204"/>
              <a:cs typeface="ITC Avant Garde Gothic" panose="020B0502020202020204"/>
              <a:sym typeface="ITC Avant Garde Gothic" panose="020B0502020202020204"/>
            </a:endParaRPr>
          </a:p>
        </p:txBody>
      </p:sp>
      <p:sp>
        <p:nvSpPr>
          <p:cNvPr id="6" name="TextBox 6"/>
          <p:cNvSpPr txBox="1"/>
          <p:nvPr>
            <p:custDataLst>
              <p:tags r:id="rId1"/>
            </p:custDataLst>
          </p:nvPr>
        </p:nvSpPr>
        <p:spPr>
          <a:xfrm>
            <a:off x="9067897" y="1943231"/>
            <a:ext cx="7128413" cy="5655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40"/>
              </a:lnSpc>
              <a:spcBef>
                <a:spcPct val="0"/>
              </a:spcBef>
            </a:pPr>
            <a:r>
              <a:rPr lang="en-US" altLang="es-MX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El an</a:t>
            </a:r>
            <a:r>
              <a:rPr lang="en-US" altLang="en-US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á</a:t>
            </a:r>
            <a:r>
              <a:rPr lang="en-US" altLang="es-MX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lisis de clustering muestra que es posible agrupar animes en conjuntos claramente diferenciados utilizando variables como n</a:t>
            </a:r>
            <a:r>
              <a:rPr lang="en-US" altLang="en-US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ú</a:t>
            </a:r>
            <a:r>
              <a:rPr lang="en-US" altLang="es-MX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mero de episodios, duraci</a:t>
            </a:r>
            <a:r>
              <a:rPr lang="en-US" altLang="en-US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ó</a:t>
            </a:r>
            <a:r>
              <a:rPr lang="en-US" altLang="es-MX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n, puntuaci</a:t>
            </a:r>
            <a:r>
              <a:rPr lang="en-US" altLang="en-US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ó</a:t>
            </a:r>
            <a:r>
              <a:rPr lang="en-US" altLang="es-MX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n, popularidad y n</a:t>
            </a:r>
            <a:r>
              <a:rPr lang="en-US" altLang="en-US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ú</a:t>
            </a:r>
            <a:r>
              <a:rPr lang="en-US" altLang="es-MX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mero de miembros. Los resultados identifican cinco cl</a:t>
            </a:r>
            <a:r>
              <a:rPr lang="en-US" altLang="en-US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ú</a:t>
            </a:r>
            <a:r>
              <a:rPr lang="en-US" altLang="es-MX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steres bien definidos, cada uno representando un perfil distinto dentro de la industria del anime, desde series est</a:t>
            </a:r>
            <a:r>
              <a:rPr lang="en-US" altLang="en-US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á</a:t>
            </a:r>
            <a:r>
              <a:rPr lang="en-US" altLang="es-MX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ndar de temporada hasta producciones altamente masivas o de nicho. Esto evidencia que los animes no forman un grupo homog</a:t>
            </a:r>
            <a:r>
              <a:rPr lang="en-US" altLang="en-US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é</a:t>
            </a:r>
            <a:r>
              <a:rPr lang="en-US" altLang="es-MX" sz="2800">
                <a:solidFill>
                  <a:srgbClr val="F9F4EF"/>
                </a:solidFill>
                <a:latin typeface="TT Fors" panose="020B0003030001020000"/>
                <a:ea typeface="TT Fors" panose="020B0003030001020000"/>
                <a:cs typeface="TT Fors" panose="020B0003030001020000"/>
                <a:sym typeface="TT Fors" panose="020B0003030001020000"/>
              </a:rPr>
              <a:t>neo, sino que siguen patrones estructurales y de consumo identificables.</a:t>
            </a:r>
            <a:endParaRPr lang="en-US" altLang="es-MX" sz="2800">
              <a:solidFill>
                <a:srgbClr val="F9F4EF"/>
              </a:solidFill>
              <a:latin typeface="TT Fors" panose="020B0003030001020000"/>
              <a:ea typeface="TT Fors" panose="020B0003030001020000"/>
              <a:cs typeface="TT Fors" panose="020B0003030001020000"/>
              <a:sym typeface="TT Fors" panose="020B000303000102000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609600" y="659606"/>
            <a:ext cx="8382000" cy="9437688"/>
            <a:chOff x="-76200" y="-9525"/>
            <a:chExt cx="11176000" cy="12583584"/>
          </a:xfrm>
        </p:grpSpPr>
        <p:sp>
          <p:nvSpPr>
            <p:cNvPr id="3" name="TextBox 3"/>
            <p:cNvSpPr txBox="1"/>
            <p:nvPr/>
          </p:nvSpPr>
          <p:spPr>
            <a:xfrm>
              <a:off x="0" y="-9525"/>
              <a:ext cx="11099800" cy="410379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8000"/>
                </a:lnSpc>
                <a:spcBef>
                  <a:spcPct val="0"/>
                </a:spcBef>
              </a:pPr>
              <a:r>
                <a:rPr lang="en-US" sz="8000" u="none" strike="noStrike" spc="-240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Ejemplos concretos de la Pregunta 3</a:t>
              </a:r>
              <a:endParaRPr lang="en-US" sz="8000" u="none" strike="noStrike" spc="-240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-76200" y="4038812"/>
              <a:ext cx="11099800" cy="853524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40"/>
                </a:lnSpc>
                <a:spcBef>
                  <a:spcPct val="0"/>
                </a:spcBef>
              </a:pPr>
              <a:r>
                <a:rPr lang="en-US" altLang="es-MX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Los cl</a:t>
              </a:r>
              <a:r>
                <a:rPr lang="en-US" altLang="en-US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ú</a:t>
              </a:r>
              <a:r>
                <a:rPr lang="en-US" altLang="es-MX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steres identificados pueden interpretarse a trav</a:t>
              </a:r>
              <a:r>
                <a:rPr lang="en-US" altLang="en-US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é</a:t>
              </a:r>
              <a:r>
                <a:rPr lang="en-US" altLang="es-MX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s de ejemplos representativos. El cl</a:t>
              </a:r>
              <a:r>
                <a:rPr lang="en-US" altLang="en-US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ú</a:t>
              </a:r>
              <a:r>
                <a:rPr lang="en-US" altLang="es-MX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ster de “</a:t>
              </a:r>
              <a:r>
                <a:rPr lang="" altLang="en-US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É</a:t>
              </a:r>
              <a:r>
                <a:rPr lang="en-US" altLang="es-MX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xitos mainstream” incluye animes con gran exposici</a:t>
              </a:r>
              <a:r>
                <a:rPr lang="en-US" altLang="en-US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ó</a:t>
              </a:r>
              <a:r>
                <a:rPr lang="en-US" altLang="es-MX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n y altos puntajes, como Attack on Titan o Death Note. El grupo de pel</a:t>
              </a:r>
              <a:r>
                <a:rPr lang="en-US" altLang="en-US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í</a:t>
              </a:r>
              <a:r>
                <a:rPr lang="en-US" altLang="es-MX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culas de anime se caracteriza por una duraci</a:t>
              </a:r>
              <a:r>
                <a:rPr lang="en-US" altLang="en-US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ó</a:t>
              </a:r>
              <a:r>
                <a:rPr lang="en-US" altLang="es-MX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n elevada y pocos episodios, como Your Name. Las series largas de formato corto, como One Piece, se distinguen por su n</a:t>
              </a:r>
              <a:r>
                <a:rPr lang="en-US" altLang="en-US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ú</a:t>
              </a:r>
              <a:r>
                <a:rPr lang="en-US" altLang="es-MX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mero extremo de episodios. En contraste, el cl</a:t>
              </a:r>
              <a:r>
                <a:rPr lang="en-US" altLang="en-US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ú</a:t>
              </a:r>
              <a:r>
                <a:rPr lang="en-US" altLang="es-MX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ster de nicho o baja popularidad agrupa OVAs o series poco conocidas, mientras que el de animes de temporada est</a:t>
              </a:r>
              <a:r>
                <a:rPr lang="en-US" altLang="en-US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á</a:t>
              </a:r>
              <a:r>
                <a:rPr lang="en-US" altLang="es-MX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ndar re</a:t>
              </a:r>
              <a:r>
                <a:rPr lang="en-US" altLang="en-US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ú</a:t>
              </a:r>
              <a:r>
                <a:rPr lang="en-US" altLang="es-MX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ne series TV de 12–24 episodios con m</a:t>
              </a:r>
              <a:r>
                <a:rPr lang="en-US" altLang="en-US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é</a:t>
              </a:r>
              <a:r>
                <a:rPr lang="en-US" altLang="es-MX" sz="2800" u="none" strike="noStrike" spc="-95">
                  <a:solidFill>
                    <a:srgbClr val="3D348B"/>
                  </a:solidFill>
                  <a:latin typeface="ITC Avant Garde Gothic" panose="020B0502020202020204"/>
                  <a:ea typeface="ITC Avant Garde Gothic" panose="020B0502020202020204"/>
                  <a:cs typeface="ITC Avant Garde Gothic" panose="020B0502020202020204"/>
                  <a:sym typeface="ITC Avant Garde Gothic" panose="020B0502020202020204"/>
                </a:rPr>
                <a:t>tricas promedio</a:t>
              </a:r>
              <a:endParaRPr lang="en-US" altLang="es-MX" sz="28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endParaRPr>
            </a:p>
          </p:txBody>
        </p:sp>
      </p:grpSp>
      <p:grpSp>
        <p:nvGrpSpPr>
          <p:cNvPr id="7" name="Group 7"/>
          <p:cNvGrpSpPr/>
          <p:nvPr/>
        </p:nvGrpSpPr>
        <p:grpSpPr>
          <a:xfrm rot="0">
            <a:off x="10632436" y="41277"/>
            <a:ext cx="7655564" cy="10245723"/>
            <a:chOff x="-11043" y="-4556"/>
            <a:chExt cx="826893" cy="583437"/>
          </a:xfrm>
        </p:grpSpPr>
        <p:sp>
          <p:nvSpPr>
            <p:cNvPr id="8" name="Freeform 8"/>
            <p:cNvSpPr/>
            <p:nvPr/>
          </p:nvSpPr>
          <p:spPr>
            <a:xfrm>
              <a:off x="-11043" y="-4556"/>
              <a:ext cx="826893" cy="583437"/>
            </a:xfrm>
            <a:custGeom>
              <a:avLst/>
              <a:gdLst/>
              <a:ahLst/>
              <a:cxnLst/>
              <a:rect l="l" t="t" r="r" b="b"/>
              <a:pathLst>
                <a:path w="815850" h="578881">
                  <a:moveTo>
                    <a:pt x="0" y="0"/>
                  </a:moveTo>
                  <a:lnTo>
                    <a:pt x="815850" y="0"/>
                  </a:lnTo>
                  <a:lnTo>
                    <a:pt x="815850" y="578881"/>
                  </a:lnTo>
                  <a:lnTo>
                    <a:pt x="0" y="578881"/>
                  </a:lnTo>
                  <a:close/>
                </a:path>
              </a:pathLst>
            </a:custGeom>
            <a:blipFill rotWithShape="1">
              <a:blip r:embed="rId1"/>
              <a:stretch>
                <a:fillRect l="-144" r="-144"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3B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0">
            <a:off x="9532621" y="0"/>
            <a:ext cx="8755379" cy="10287000"/>
            <a:chOff x="-201467" y="0"/>
            <a:chExt cx="1965910" cy="2309817"/>
          </a:xfrm>
        </p:grpSpPr>
        <p:sp>
          <p:nvSpPr>
            <p:cNvPr id="3" name="Freeform 3"/>
            <p:cNvSpPr/>
            <p:nvPr/>
          </p:nvSpPr>
          <p:spPr>
            <a:xfrm>
              <a:off x="-201467" y="0"/>
              <a:ext cx="1965910" cy="2309817"/>
            </a:xfrm>
            <a:custGeom>
              <a:avLst/>
              <a:gdLst/>
              <a:ahLst/>
              <a:cxnLst/>
              <a:rect l="l" t="t" r="r" b="b"/>
              <a:pathLst>
                <a:path w="1764443" h="2309817">
                  <a:moveTo>
                    <a:pt x="0" y="0"/>
                  </a:moveTo>
                  <a:lnTo>
                    <a:pt x="1764443" y="0"/>
                  </a:lnTo>
                  <a:lnTo>
                    <a:pt x="1764443" y="2309817"/>
                  </a:lnTo>
                  <a:lnTo>
                    <a:pt x="0" y="2309817"/>
                  </a:lnTo>
                  <a:close/>
                </a:path>
              </a:pathLst>
            </a:custGeom>
            <a:blipFill rotWithShape="1">
              <a:blip r:embed="rId1"/>
              <a:stretch>
                <a:fillRect t="-255" b="-255"/>
              </a:stretch>
            </a:blipFill>
          </p:spPr>
        </p:sp>
      </p:grpSp>
      <p:sp>
        <p:nvSpPr>
          <p:cNvPr id="5" name="TextBox 5"/>
          <p:cNvSpPr txBox="1"/>
          <p:nvPr/>
        </p:nvSpPr>
        <p:spPr>
          <a:xfrm>
            <a:off x="666750" y="659765"/>
            <a:ext cx="8324850" cy="1025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000"/>
              </a:lnSpc>
              <a:spcBef>
                <a:spcPct val="0"/>
              </a:spcBef>
            </a:pPr>
            <a:r>
              <a:rPr lang="en-US" sz="8000" u="none" strike="noStrike" spc="-240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Conclusiones</a:t>
            </a:r>
            <a:endParaRPr lang="en-US" sz="8000" u="none" strike="noStrike" spc="-240">
              <a:solidFill>
                <a:srgbClr val="3D348B"/>
              </a:solidFill>
              <a:latin typeface="ITC Avant Garde Gothic" panose="020B0502020202020204"/>
              <a:ea typeface="ITC Avant Garde Gothic" panose="020B0502020202020204"/>
              <a:cs typeface="ITC Avant Garde Gothic" panose="020B0502020202020204"/>
              <a:sym typeface="ITC Avant Garde Gothic" panose="020B0502020202020204"/>
            </a:endParaRPr>
          </a:p>
        </p:txBody>
      </p:sp>
      <p:sp>
        <p:nvSpPr>
          <p:cNvPr id="12" name="TextBox 6"/>
          <p:cNvSpPr txBox="1"/>
          <p:nvPr/>
        </p:nvSpPr>
        <p:spPr>
          <a:xfrm>
            <a:off x="533400" y="1714659"/>
            <a:ext cx="8301213" cy="78790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altLang="es-MX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La puntuaci</a:t>
            </a:r>
            <a:r>
              <a:rPr lang="en-US" altLang="en-US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ó</a:t>
            </a:r>
            <a:r>
              <a:rPr lang="en-US" altLang="es-MX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n promedio en MyAnimeList est</a:t>
            </a:r>
            <a:r>
              <a:rPr lang="en-US" altLang="en-US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á</a:t>
            </a:r>
            <a:r>
              <a:rPr lang="en-US" altLang="es-MX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 influenciada por factores estructurales, de popularidad y de clasificaci</a:t>
            </a:r>
            <a:r>
              <a:rPr lang="en-US" altLang="en-US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ó</a:t>
            </a:r>
            <a:r>
              <a:rPr lang="en-US" altLang="es-MX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n, no es aleatoria.</a:t>
            </a:r>
            <a:endParaRPr lang="en-US" altLang="es-MX" sz="2000" u="none" strike="noStrike" spc="-95">
              <a:solidFill>
                <a:srgbClr val="3D348B"/>
              </a:solidFill>
              <a:latin typeface="ITC Avant Garde Gothic" panose="020B0502020202020204"/>
              <a:ea typeface="ITC Avant Garde Gothic" panose="020B0502020202020204"/>
              <a:cs typeface="ITC Avant Garde Gothic" panose="020B0502020202020204"/>
              <a:sym typeface="ITC Avant Garde Gothic" panose="020B0502020202020204"/>
            </a:endParaRPr>
          </a:p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endParaRPr lang="en-US" altLang="es-MX" sz="2000" u="none" strike="noStrike" spc="-95">
              <a:solidFill>
                <a:srgbClr val="3D348B"/>
              </a:solidFill>
              <a:latin typeface="ITC Avant Garde Gothic" panose="020B0502020202020204"/>
              <a:ea typeface="ITC Avant Garde Gothic" panose="020B0502020202020204"/>
              <a:cs typeface="ITC Avant Garde Gothic" panose="020B0502020202020204"/>
              <a:sym typeface="ITC Avant Garde Gothic" panose="020B0502020202020204"/>
            </a:endParaRPr>
          </a:p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altLang="es-MX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Existen diferencias significativas entre tipos de anime, confirmadas por ANOVA y pruebas no param</a:t>
            </a:r>
            <a:r>
              <a:rPr lang="en-US" altLang="en-US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é</a:t>
            </a:r>
            <a:r>
              <a:rPr lang="en-US" altLang="es-MX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tricas.</a:t>
            </a:r>
            <a:endParaRPr lang="en-US" altLang="es-MX" sz="2000" u="none" strike="noStrike" spc="-95">
              <a:solidFill>
                <a:srgbClr val="3D348B"/>
              </a:solidFill>
              <a:latin typeface="ITC Avant Garde Gothic" panose="020B0502020202020204"/>
              <a:ea typeface="ITC Avant Garde Gothic" panose="020B0502020202020204"/>
              <a:cs typeface="ITC Avant Garde Gothic" panose="020B0502020202020204"/>
              <a:sym typeface="ITC Avant Garde Gothic" panose="020B0502020202020204"/>
            </a:endParaRPr>
          </a:p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endParaRPr lang="en-US" altLang="es-MX" sz="2000" u="none" strike="noStrike" spc="-95">
              <a:solidFill>
                <a:srgbClr val="3D348B"/>
              </a:solidFill>
              <a:latin typeface="ITC Avant Garde Gothic" panose="020B0502020202020204"/>
              <a:ea typeface="ITC Avant Garde Gothic" panose="020B0502020202020204"/>
              <a:cs typeface="ITC Avant Garde Gothic" panose="020B0502020202020204"/>
              <a:sym typeface="ITC Avant Garde Gothic" panose="020B0502020202020204"/>
            </a:endParaRPr>
          </a:p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altLang="es-MX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Los animes pueden agruparse en clusters claros, que reflejan perfiles de producci</a:t>
            </a:r>
            <a:r>
              <a:rPr lang="en-US" altLang="en-US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ó</a:t>
            </a:r>
            <a:r>
              <a:rPr lang="en-US" altLang="es-MX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n y consumo: desde series est</a:t>
            </a:r>
            <a:r>
              <a:rPr lang="en-US" altLang="en-US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á</a:t>
            </a:r>
            <a:r>
              <a:rPr lang="en-US" altLang="es-MX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ndar hasta </a:t>
            </a:r>
            <a:r>
              <a:rPr lang="en-US" altLang="en-US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é</a:t>
            </a:r>
            <a:r>
              <a:rPr lang="en-US" altLang="es-MX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xitos mainstream y nichos poco populares.</a:t>
            </a:r>
            <a:endParaRPr lang="en-US" altLang="es-MX" sz="2000" u="none" strike="noStrike" spc="-95">
              <a:solidFill>
                <a:srgbClr val="3D348B"/>
              </a:solidFill>
              <a:latin typeface="ITC Avant Garde Gothic" panose="020B0502020202020204"/>
              <a:ea typeface="ITC Avant Garde Gothic" panose="020B0502020202020204"/>
              <a:cs typeface="ITC Avant Garde Gothic" panose="020B0502020202020204"/>
              <a:sym typeface="ITC Avant Garde Gothic" panose="020B0502020202020204"/>
            </a:endParaRPr>
          </a:p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endParaRPr lang="en-US" altLang="es-MX" sz="2000" u="none" strike="noStrike" spc="-95">
              <a:solidFill>
                <a:srgbClr val="3D348B"/>
              </a:solidFill>
              <a:latin typeface="ITC Avant Garde Gothic" panose="020B0502020202020204"/>
              <a:ea typeface="ITC Avant Garde Gothic" panose="020B0502020202020204"/>
              <a:cs typeface="ITC Avant Garde Gothic" panose="020B0502020202020204"/>
              <a:sym typeface="ITC Avant Garde Gothic" panose="020B0502020202020204"/>
            </a:endParaRPr>
          </a:p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altLang="es-MX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El an</a:t>
            </a:r>
            <a:r>
              <a:rPr lang="en-US" altLang="en-US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á</a:t>
            </a:r>
            <a:r>
              <a:rPr lang="en-US" altLang="es-MX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lisis estad</a:t>
            </a:r>
            <a:r>
              <a:rPr lang="en-US" altLang="en-US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í</a:t>
            </a:r>
            <a:r>
              <a:rPr lang="en-US" altLang="es-MX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stico permite identificar patrones de valoraci</a:t>
            </a:r>
            <a:r>
              <a:rPr lang="en-US" altLang="en-US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ó</a:t>
            </a:r>
            <a:r>
              <a:rPr lang="en-US" altLang="es-MX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n y consumo, aunque no determina de manera absoluta la calidad de un anime.</a:t>
            </a:r>
            <a:endParaRPr lang="en-US" altLang="es-MX" sz="2000" u="none" strike="noStrike" spc="-95">
              <a:solidFill>
                <a:srgbClr val="3D348B"/>
              </a:solidFill>
              <a:latin typeface="ITC Avant Garde Gothic" panose="020B0502020202020204"/>
              <a:ea typeface="ITC Avant Garde Gothic" panose="020B0502020202020204"/>
              <a:cs typeface="ITC Avant Garde Gothic" panose="020B0502020202020204"/>
              <a:sym typeface="ITC Avant Garde Gothic" panose="020B0502020202020204"/>
            </a:endParaRPr>
          </a:p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endParaRPr lang="en-US" altLang="es-MX" sz="2000" u="none" strike="noStrike" spc="-95">
              <a:solidFill>
                <a:srgbClr val="3D348B"/>
              </a:solidFill>
              <a:latin typeface="ITC Avant Garde Gothic" panose="020B0502020202020204"/>
              <a:ea typeface="ITC Avant Garde Gothic" panose="020B0502020202020204"/>
              <a:cs typeface="ITC Avant Garde Gothic" panose="020B0502020202020204"/>
              <a:sym typeface="ITC Avant Garde Gothic" panose="020B0502020202020204"/>
            </a:endParaRPr>
          </a:p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altLang="es-MX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Estos hallazgos muestran la importancia de considerar caracter</a:t>
            </a:r>
            <a:r>
              <a:rPr lang="en-US" altLang="en-US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í</a:t>
            </a:r>
            <a:r>
              <a:rPr lang="en-US" altLang="es-MX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sticas objetivas y din</a:t>
            </a:r>
            <a:r>
              <a:rPr lang="en-US" altLang="en-US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á</a:t>
            </a:r>
            <a:r>
              <a:rPr lang="en-US" altLang="es-MX" sz="2000" u="none" strike="noStrike" spc="-95">
                <a:solidFill>
                  <a:srgbClr val="3D348B"/>
                </a:solidFill>
                <a:latin typeface="ITC Avant Garde Gothic" panose="020B0502020202020204"/>
                <a:ea typeface="ITC Avant Garde Gothic" panose="020B0502020202020204"/>
                <a:cs typeface="ITC Avant Garde Gothic" panose="020B0502020202020204"/>
                <a:sym typeface="ITC Avant Garde Gothic" panose="020B0502020202020204"/>
              </a:rPr>
              <a:t>micas de comunidad al interpretar puntuaciones en plataformas de entretenimiento.</a:t>
            </a:r>
            <a:endParaRPr lang="en-US" altLang="es-MX" sz="2000" u="none" strike="noStrike" spc="-95">
              <a:solidFill>
                <a:srgbClr val="3D348B"/>
              </a:solidFill>
              <a:latin typeface="ITC Avant Garde Gothic" panose="020B0502020202020204"/>
              <a:ea typeface="ITC Avant Garde Gothic" panose="020B0502020202020204"/>
              <a:cs typeface="ITC Avant Garde Gothic" panose="020B0502020202020204"/>
              <a:sym typeface="ITC Avant Garde Gothic" panose="020B05020202020202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586.7874803149606,&quot;left&quot;:732,&quot;top&quot;:116.8125,&quot;width&quot;:542.25}"/>
</p:tagLst>
</file>

<file path=ppt/tags/tag2.xml><?xml version="1.0" encoding="utf-8"?>
<p:tagLst xmlns:p="http://schemas.openxmlformats.org/presentationml/2006/main">
  <p:tag name="KSO_WM_DIAGRAM_VIRTUALLY_FRAME" val="{&quot;height&quot;:586.7874803149606,&quot;left&quot;:732,&quot;top&quot;:116.8125,&quot;width&quot;:542.25}"/>
</p:tagLst>
</file>

<file path=ppt/tags/tag3.xml><?xml version="1.0" encoding="utf-8"?>
<p:tagLst xmlns:p="http://schemas.openxmlformats.org/presentationml/2006/main">
  <p:tag name="KSO_WM_DIAGRAM_VIRTUALLY_FRAME" val="{&quot;height&quot;:586.7874803149606,&quot;left&quot;:732,&quot;top&quot;:116.8125,&quot;width&quot;:542.25}"/>
</p:tagLst>
</file>

<file path=ppt/tags/tag4.xml><?xml version="1.0" encoding="utf-8"?>
<p:tagLst xmlns:p="http://schemas.openxmlformats.org/presentationml/2006/main">
  <p:tag name="KSO_WM_DIAGRAM_VIRTUALLY_FRAME" val="{&quot;height&quot;:586.7874803149606,&quot;left&quot;:732,&quot;top&quot;:116.8125,&quot;width&quot;:542.25}"/>
</p:tagLst>
</file>

<file path=ppt/tags/tag5.xml><?xml version="1.0" encoding="utf-8"?>
<p:tagLst xmlns:p="http://schemas.openxmlformats.org/presentationml/2006/main">
  <p:tag name="KSO_WM_DIAGRAM_VIRTUALLY_FRAME" val="{&quot;height&quot;:586.7874803149606,&quot;left&quot;:732,&quot;top&quot;:116.8125,&quot;width&quot;:542.25}"/>
</p:tagLst>
</file>

<file path=ppt/tags/tag6.xml><?xml version="1.0" encoding="utf-8"?>
<p:tagLst xmlns:p="http://schemas.openxmlformats.org/presentationml/2006/main">
  <p:tag name="KSO_WM_DIAGRAM_VIRTUALLY_FRAME" val="{&quot;height&quot;:586.7874803149606,&quot;left&quot;:732,&quot;top&quot;:116.8125,&quot;width&quot;:542.25}"/>
</p:tagLst>
</file>

<file path=ppt/tags/tag7.xml><?xml version="1.0" encoding="utf-8"?>
<p:tagLst xmlns:p="http://schemas.openxmlformats.org/presentationml/2006/main">
  <p:tag name="KSO_WM_DIAGRAM_VIRTUALLY_FRAME" val="{&quot;height&quot;:586.7874803149606,&quot;left&quot;:732,&quot;top&quot;:116.8125,&quot;width&quot;:542.25}"/>
</p:tagLst>
</file>

<file path=ppt/tags/tag8.xml><?xml version="1.0" encoding="utf-8"?>
<p:tagLst xmlns:p="http://schemas.openxmlformats.org/presentationml/2006/main">
  <p:tag name="KSO_WM_DIAGRAM_VIRTUALLY_FRAME" val="{&quot;height&quot;:586.7874803149606,&quot;left&quot;:732,&quot;top&quot;:116.8125,&quot;width&quot;:542.25}"/>
</p:tagLst>
</file>

<file path=ppt/tags/tag9.xml><?xml version="1.0" encoding="utf-8"?>
<p:tagLst xmlns:p="http://schemas.openxmlformats.org/presentationml/2006/main">
  <p:tag name="KSO_WM_DIAGRAM_VIRTUALLY_FRAME" val="{&quot;height&quot;:586.7874803149606,&quot;left&quot;:732,&quot;top&quot;:116.8125,&quot;width&quot;:542.25}"/>
</p:tagLst>
</file>

<file path=ppt/tags/tag10.xml><?xml version="1.0" encoding="utf-8"?>
<p:tagLst xmlns:p="http://schemas.openxmlformats.org/presentationml/2006/main">
  <p:tag name="KSO_WM_DIAGRAM_VIRTUALLY_FRAME" val="{&quot;height&quot;:445.51035366018414,&quot;left&quot;:716.35,&quot;top&quot;:321.65,&quot;width&quot;:569.9000000000002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6321</Words>
  <Application>WPS Presentation</Application>
  <PresentationFormat>On-screen Show (4:3)</PresentationFormat>
  <Paragraphs>90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8" baseType="lpstr">
      <vt:lpstr>Arial</vt:lpstr>
      <vt:lpstr>SimSun</vt:lpstr>
      <vt:lpstr>Wingdings</vt:lpstr>
      <vt:lpstr>ITC Avant Garde Gothic</vt:lpstr>
      <vt:lpstr>TT Fors</vt:lpstr>
      <vt:lpstr>TT Fors Bold</vt:lpstr>
      <vt:lpstr>TT Fors Italics</vt:lpstr>
      <vt:lpstr>ITC Avant Garde Gothic Bold</vt:lpstr>
      <vt:lpstr>Microsoft YaHei</vt:lpstr>
      <vt:lpstr>Arial Unicode MS</vt:lpstr>
      <vt:lpstr>Calibri</vt:lpstr>
      <vt:lpstr>Arial Narrow</vt:lpstr>
      <vt:lpstr>Times New Roman</vt:lpstr>
      <vt:lpstr>Tempus Sans ITC</vt:lpstr>
      <vt:lpstr>Bradley Hand ITC</vt:lpstr>
      <vt:lpstr>Kristen ITC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- Proyecto de Data Science</dc:title>
  <dc:creator/>
  <dc:description>Presentación - Proyecto de Data Science</dc:description>
  <cp:lastModifiedBy>Darian Santamarina</cp:lastModifiedBy>
  <cp:revision>7</cp:revision>
  <dcterms:created xsi:type="dcterms:W3CDTF">2006-08-16T00:00:00Z</dcterms:created>
  <dcterms:modified xsi:type="dcterms:W3CDTF">2026-01-10T08:20:53Z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1D21FD4DF22F4E818E4E91A7E1576F31_12</vt:lpwstr>
  </property>
  <property fmtid="{D5CDD505-2E9C-101B-9397-08002B2CF9AE}" pid="3" name="KSOProductBuildVer">
    <vt:lpwstr>2058-12.2.0.23196</vt:lpwstr>
  </property>
</Properties>
</file>