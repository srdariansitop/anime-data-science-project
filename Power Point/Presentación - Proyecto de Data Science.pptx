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ITC Avant Garde Gothic" charset="1" panose="020B0502020202020204"/>
      <p:regular r:id="rId19"/>
    </p:embeddedFont>
    <p:embeddedFont>
      <p:font typeface="TT Fors" charset="1" panose="020B0003030001020000"/>
      <p:regular r:id="rId20"/>
    </p:embeddedFont>
    <p:embeddedFont>
      <p:font typeface="TT Fors Bold" charset="1" panose="020B0003030001020000"/>
      <p:regular r:id="rId21"/>
    </p:embeddedFont>
    <p:embeddedFont>
      <p:font typeface="TT Fors Italics" charset="1" panose="020B0003030001020000"/>
      <p:regular r:id="rId22"/>
    </p:embeddedFont>
    <p:embeddedFont>
      <p:font typeface="ITC Avant Garde Gothic Bold" charset="1" panose="020B0802020202020204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9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68150" y="0"/>
            <a:ext cx="6419850" cy="10287000"/>
            <a:chOff x="0" y="0"/>
            <a:chExt cx="994603" cy="15937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94603" cy="1593725"/>
            </a:xfrm>
            <a:custGeom>
              <a:avLst/>
              <a:gdLst/>
              <a:ahLst/>
              <a:cxnLst/>
              <a:rect r="r" b="b" t="t" l="l"/>
              <a:pathLst>
                <a:path h="1593725" w="994603">
                  <a:moveTo>
                    <a:pt x="0" y="0"/>
                  </a:moveTo>
                  <a:lnTo>
                    <a:pt x="994603" y="0"/>
                  </a:lnTo>
                  <a:lnTo>
                    <a:pt x="994603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126" r="0" b="-126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6750" y="666750"/>
            <a:ext cx="9763125" cy="3682999"/>
            <a:chOff x="0" y="0"/>
            <a:chExt cx="13017500" cy="4910666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1184275"/>
              <a:ext cx="13017500" cy="37263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9999"/>
                </a:lnSpc>
              </a:pPr>
              <a:r>
                <a:rPr lang="en-US" sz="9999" spc="-299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Proyecto de Data Science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-104775"/>
              <a:ext cx="130175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sz="2600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ANÁLISIS DE ANIMES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663474" y="9181465"/>
            <a:ext cx="7194651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640"/>
              </a:lnSpc>
            </a:pPr>
            <a:r>
              <a:rPr lang="en-US" sz="2600">
                <a:solidFill>
                  <a:srgbClr val="3D348B"/>
                </a:solidFill>
                <a:latin typeface="TT Fors"/>
                <a:ea typeface="TT Fors"/>
                <a:cs typeface="TT Fors"/>
                <a:sym typeface="TT Fors"/>
              </a:rPr>
              <a:t>Presentado por el equipo de tres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444829" y="7829550"/>
            <a:ext cx="4846643" cy="1791955"/>
            <a:chOff x="0" y="0"/>
            <a:chExt cx="6462190" cy="238927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036459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4072917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D34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1201400" cy="3171825"/>
            <a:chOff x="0" y="0"/>
            <a:chExt cx="14935200" cy="4229100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-9525"/>
              <a:ext cx="14935200" cy="29728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9F4EF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Introducción al Proyecto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3581400"/>
              <a:ext cx="13017500" cy="647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Data Science y Animes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744700" y="7829550"/>
            <a:ext cx="4846643" cy="1791955"/>
            <a:chOff x="0" y="0"/>
            <a:chExt cx="6462190" cy="238927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036459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4072917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6886575" cy="3543300"/>
            <a:chOff x="0" y="0"/>
            <a:chExt cx="9182100" cy="4724400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-9525"/>
              <a:ext cx="9182100" cy="29728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Integrantes del Equipo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3362325"/>
              <a:ext cx="9182100" cy="13620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Presentación de los miembros y sus funciones clave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296400" y="1562100"/>
            <a:ext cx="6886575" cy="1956435"/>
            <a:chOff x="0" y="0"/>
            <a:chExt cx="9182100" cy="260858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115570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Ana es la </a:t>
              </a:r>
              <a:r>
                <a:rPr lang="en-US" b="true" sz="2100">
                  <a:solidFill>
                    <a:srgbClr val="3D348B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analista de datos</a:t>
              </a:r>
              <a:r>
                <a:rPr lang="en-US" sz="2100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, responsable de recopilar y procesar la información relevante de los animes seleccionados.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sz="2600" spc="-78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Miembro 1: Ana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296400" y="4248150"/>
            <a:ext cx="6886575" cy="1956435"/>
            <a:chOff x="0" y="0"/>
            <a:chExt cx="9182100" cy="2608580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115570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Luis actúa como el </a:t>
              </a:r>
              <a:r>
                <a:rPr lang="en-US" b="true" sz="2100">
                  <a:solidFill>
                    <a:srgbClr val="3D348B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diseñador visual</a:t>
              </a:r>
              <a:r>
                <a:rPr lang="en-US" sz="2100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, encargado de crear gráficos y presentaciones atractivas que faciliten la comprensión de los datos.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sz="2600" spc="-78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Miembro 2: Luis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296400" y="6938010"/>
            <a:ext cx="6886575" cy="1956435"/>
            <a:chOff x="0" y="0"/>
            <a:chExt cx="9182100" cy="260858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115570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Carla es la </a:t>
              </a:r>
              <a:r>
                <a:rPr lang="en-US" b="true" sz="2100">
                  <a:solidFill>
                    <a:srgbClr val="3D348B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coordinadora del proyecto</a:t>
              </a:r>
              <a:r>
                <a:rPr lang="en-US" sz="2100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, supervisando el progreso y asegurando que el equipo cumpla los plazos establecidos y los objetivos.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sz="2600" spc="-78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Miembro 3: Carla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303343" y="7829550"/>
            <a:ext cx="4846643" cy="1791955"/>
            <a:chOff x="0" y="0"/>
            <a:chExt cx="6462190" cy="238927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2036459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4072917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D34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6886575" cy="3543300"/>
            <a:chOff x="0" y="0"/>
            <a:chExt cx="9182100" cy="4724400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-9525"/>
              <a:ext cx="9182100" cy="29728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E3B505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Descripción de Animes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3362325"/>
              <a:ext cx="9182100" cy="13620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E3B505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Un vistazo a tus series favoritas y su impacto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296400" y="1562100"/>
            <a:ext cx="6886575" cy="1956435"/>
            <a:chOff x="0" y="0"/>
            <a:chExt cx="9182100" cy="260858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115570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i="true">
                  <a:solidFill>
                    <a:srgbClr val="F9F4EF"/>
                  </a:solidFill>
                  <a:latin typeface="TT Fors Italics"/>
                  <a:ea typeface="TT Fors Italics"/>
                  <a:cs typeface="TT Fors Italics"/>
                  <a:sym typeface="TT Fors Italics"/>
                </a:rPr>
                <a:t>Naruto</a:t>
              </a: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 sigue la historia de un joven ninja en busca de reconocimiento y amistad, enfrentando adversidades con valentía y determinación.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sz="2600" spc="-78" strike="noStrike" u="none">
                  <a:solidFill>
                    <a:srgbClr val="F9F4EF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Naruto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296400" y="4248150"/>
            <a:ext cx="6886575" cy="1956435"/>
            <a:chOff x="0" y="0"/>
            <a:chExt cx="9182100" cy="2608580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115570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i="true">
                  <a:solidFill>
                    <a:srgbClr val="F9F4EF"/>
                  </a:solidFill>
                  <a:latin typeface="TT Fors Italics"/>
                  <a:ea typeface="TT Fors Italics"/>
                  <a:cs typeface="TT Fors Italics"/>
                  <a:sym typeface="TT Fors Italics"/>
                </a:rPr>
                <a:t>Jujutsu Kaisen</a:t>
              </a: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 presenta a un estudiante que se une a una escuela de hechicería para luchar contra maldiciones y proteger a sus seres queridos.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sz="2600" spc="-78" strike="noStrike" u="none">
                  <a:solidFill>
                    <a:srgbClr val="F9F4EF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Jujutsu Kaisen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296400" y="6938010"/>
            <a:ext cx="6886575" cy="1956435"/>
            <a:chOff x="0" y="0"/>
            <a:chExt cx="9182100" cy="260858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115570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i="true">
                  <a:solidFill>
                    <a:srgbClr val="F9F4EF"/>
                  </a:solidFill>
                  <a:latin typeface="TT Fors Italics"/>
                  <a:ea typeface="TT Fors Italics"/>
                  <a:cs typeface="TT Fors Italics"/>
                  <a:sym typeface="TT Fors Italics"/>
                </a:rPr>
                <a:t>Shingeki no Kyojin</a:t>
              </a: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 retrata la lucha de la humanidad contra gigantes devoradores, explorando temas de libertad, sacrificio y la naturaleza humana.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sz="2600" spc="-78" strike="noStrike" u="none">
                  <a:solidFill>
                    <a:srgbClr val="F9F4EF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Shingeki no Kyojin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303343" y="7829550"/>
            <a:ext cx="4846643" cy="1791955"/>
            <a:chOff x="0" y="0"/>
            <a:chExt cx="6462190" cy="238927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2036459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4072917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038850"/>
            <a:ext cx="4010025" cy="1955165"/>
            <a:chOff x="0" y="0"/>
            <a:chExt cx="5346700" cy="2606887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1154007"/>
              <a:ext cx="53467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 spc="-52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Analizamos los episodios para entender la estructura narrativa general.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-66675"/>
              <a:ext cx="3429000" cy="714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01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419850" y="6038850"/>
            <a:ext cx="4010025" cy="1955165"/>
            <a:chOff x="0" y="0"/>
            <a:chExt cx="5346700" cy="2606887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1154007"/>
              <a:ext cx="53467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 spc="-52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Los personajes fueron estudiados para identificar sus habilidades clave.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66675"/>
              <a:ext cx="3429000" cy="714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02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172950" y="6038850"/>
            <a:ext cx="4010025" cy="1955165"/>
            <a:chOff x="0" y="0"/>
            <a:chExt cx="5346700" cy="2606887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1154007"/>
              <a:ext cx="53467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 spc="-52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Se examinaron los comentarios para evaluar la recepción de la audiencia.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66675"/>
              <a:ext cx="3429000" cy="714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03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66750" y="657225"/>
            <a:ext cx="14077950" cy="1222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3D348B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Tipos de Datos Analizados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66750" y="5143500"/>
            <a:ext cx="819150" cy="446049"/>
            <a:chOff x="0" y="0"/>
            <a:chExt cx="1092200" cy="59473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497468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6419850" y="5143500"/>
            <a:ext cx="819150" cy="446049"/>
            <a:chOff x="0" y="0"/>
            <a:chExt cx="1092200" cy="59473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497468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2172950" y="5143500"/>
            <a:ext cx="819150" cy="446049"/>
            <a:chOff x="0" y="0"/>
            <a:chExt cx="1092200" cy="59473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497468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B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038850"/>
            <a:ext cx="4010025" cy="1955165"/>
            <a:chOff x="0" y="0"/>
            <a:chExt cx="5346700" cy="2606887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1154007"/>
              <a:ext cx="53467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 spc="-52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Análisis estadístico permite entender patrones en los animes seleccionados.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-66675"/>
              <a:ext cx="3429000" cy="714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01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419850" y="6038850"/>
            <a:ext cx="4010025" cy="1955165"/>
            <a:chOff x="0" y="0"/>
            <a:chExt cx="5346700" cy="2606887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1154007"/>
              <a:ext cx="53467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 spc="-52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Minería de texto ayuda a capturar el </a:t>
              </a:r>
              <a:r>
                <a:rPr lang="en-US" b="true" sz="2100" spc="-52">
                  <a:solidFill>
                    <a:srgbClr val="3D348B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sentimiento</a:t>
              </a:r>
              <a:r>
                <a:rPr lang="en-US" sz="2100" spc="-52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 de los comentarios.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66675"/>
              <a:ext cx="3429000" cy="714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02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172950" y="6038850"/>
            <a:ext cx="4010025" cy="1955165"/>
            <a:chOff x="0" y="0"/>
            <a:chExt cx="5346700" cy="2606887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1154007"/>
              <a:ext cx="53467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 spc="-52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Visualización de redes destaca relaciones entre personajes y sus interacciones.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66675"/>
              <a:ext cx="3429000" cy="714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03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66750" y="657225"/>
            <a:ext cx="14077950" cy="1222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3D348B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Técnicas de Data Science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66750" y="5143500"/>
            <a:ext cx="819150" cy="446049"/>
            <a:chOff x="0" y="0"/>
            <a:chExt cx="1092200" cy="59473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497468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6419850" y="5143500"/>
            <a:ext cx="819150" cy="446049"/>
            <a:chOff x="0" y="0"/>
            <a:chExt cx="1092200" cy="59473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497468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2172950" y="5143500"/>
            <a:ext cx="819150" cy="446049"/>
            <a:chOff x="0" y="0"/>
            <a:chExt cx="1092200" cy="59473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497468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94732" cy="594732"/>
            </a:xfrm>
            <a:custGeom>
              <a:avLst/>
              <a:gdLst/>
              <a:ahLst/>
              <a:cxnLst/>
              <a:rect r="r" b="b" t="t" l="l"/>
              <a:pathLst>
                <a:path h="594732" w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8324850" cy="3171825"/>
            <a:chOff x="0" y="0"/>
            <a:chExt cx="11099800" cy="4229100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-9525"/>
              <a:ext cx="11099800" cy="29728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Ejemplos Visuales de Animes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3514725"/>
              <a:ext cx="11099800" cy="714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Imágenes que inspiran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734675" y="666750"/>
            <a:ext cx="6886575" cy="3762375"/>
            <a:chOff x="0" y="0"/>
            <a:chExt cx="815850" cy="44572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5850" cy="445727"/>
            </a:xfrm>
            <a:custGeom>
              <a:avLst/>
              <a:gdLst/>
              <a:ahLst/>
              <a:cxnLst/>
              <a:rect r="r" b="b" t="t" l="l"/>
              <a:pathLst>
                <a:path h="445727" w="815850">
                  <a:moveTo>
                    <a:pt x="0" y="0"/>
                  </a:moveTo>
                  <a:lnTo>
                    <a:pt x="815850" y="0"/>
                  </a:lnTo>
                  <a:lnTo>
                    <a:pt x="815850" y="445727"/>
                  </a:lnTo>
                  <a:lnTo>
                    <a:pt x="0" y="445727"/>
                  </a:lnTo>
                  <a:close/>
                </a:path>
              </a:pathLst>
            </a:custGeom>
            <a:blipFill>
              <a:blip r:embed="rId2"/>
              <a:stretch>
                <a:fillRect l="-353" t="0" r="-353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734675" y="4733925"/>
            <a:ext cx="6886575" cy="4886325"/>
            <a:chOff x="0" y="0"/>
            <a:chExt cx="815850" cy="57888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5850" cy="578881"/>
            </a:xfrm>
            <a:custGeom>
              <a:avLst/>
              <a:gdLst/>
              <a:ahLst/>
              <a:cxnLst/>
              <a:rect r="r" b="b" t="t" l="l"/>
              <a:pathLst>
                <a:path h="578881" w="815850">
                  <a:moveTo>
                    <a:pt x="0" y="0"/>
                  </a:moveTo>
                  <a:lnTo>
                    <a:pt x="815850" y="0"/>
                  </a:lnTo>
                  <a:lnTo>
                    <a:pt x="815850" y="578881"/>
                  </a:lnTo>
                  <a:lnTo>
                    <a:pt x="0" y="578881"/>
                  </a:lnTo>
                  <a:close/>
                </a:path>
              </a:pathLst>
            </a:custGeom>
            <a:blipFill>
              <a:blip r:embed="rId3"/>
              <a:stretch>
                <a:fillRect l="-144" t="0" r="-144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-1303343" y="7829550"/>
            <a:ext cx="4846643" cy="1791955"/>
            <a:chOff x="0" y="0"/>
            <a:chExt cx="6462190" cy="238927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2036459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4072917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3D34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66750" y="657225"/>
            <a:ext cx="15516225" cy="12223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E3B505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Estadísticas de Personajes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7829550"/>
            <a:ext cx="6886575" cy="1790700"/>
            <a:chOff x="0" y="0"/>
            <a:chExt cx="9182100" cy="2387600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93472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Seguimos el crecimiento de habilidades de los personajes, mostrando cómo han evolucionado a lo largo de las temporadas.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sz="2600" spc="-78" strike="noStrike" u="none">
                  <a:solidFill>
                    <a:srgbClr val="F9F4EF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Evolución de Poderes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66750" y="5143433"/>
            <a:ext cx="6886575" cy="1790700"/>
            <a:chOff x="0" y="0"/>
            <a:chExt cx="9182100" cy="2387600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93472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El número total de apariciones de cada personaje proporciona una visión clara de su importancia en las historias.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sz="2600" spc="-78" strike="noStrike" u="none">
                  <a:solidFill>
                    <a:srgbClr val="F9F4EF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Apariciones Totales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296400" y="7829483"/>
            <a:ext cx="6886575" cy="1790700"/>
            <a:chOff x="0" y="0"/>
            <a:chExt cx="9182100" cy="2387600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3472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Utilizamos gráficos de barras y radar para ilustrar las tendencias en apariciones y evolución de poderes de manera clara y efectiva.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sz="2600" spc="-78" strike="noStrike" u="none">
                  <a:solidFill>
                    <a:srgbClr val="F9F4EF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Gráficas Visuales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6886575" cy="1790700"/>
            <a:chOff x="0" y="0"/>
            <a:chExt cx="9182100" cy="2387600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3472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Analizamos las diferencias en el desarrollo de poderes entre personajes principales de Naruto, Jujutsu Kaisen y Shingeki no Kyojin.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sz="2600" spc="-78" strike="noStrike" u="none">
                  <a:solidFill>
                    <a:srgbClr val="F9F4EF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Comparación entre Personajes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858125" y="609600"/>
            <a:ext cx="9763125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00"/>
              </a:lnSpc>
            </a:pPr>
            <a:r>
              <a:rPr lang="en-US" sz="1800" spc="-18">
                <a:solidFill>
                  <a:srgbClr val="3D348B"/>
                </a:solidFill>
                <a:latin typeface="TT Fors"/>
                <a:ea typeface="TT Fors"/>
                <a:cs typeface="TT Fors"/>
                <a:sym typeface="TT Fors"/>
              </a:rPr>
              <a:t>Análisis Comparativo de Episodios Clave Entre Animes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6488092" y="1063307"/>
            <a:ext cx="11787816" cy="9080918"/>
          </a:xfrm>
          <a:prstGeom prst="rect">
            <a:avLst/>
          </a:prstGeom>
        </p:spPr>
      </p:pic>
      <p:grpSp>
        <p:nvGrpSpPr>
          <p:cNvPr name="Group 4" id="4"/>
          <p:cNvGrpSpPr/>
          <p:nvPr/>
        </p:nvGrpSpPr>
        <p:grpSpPr>
          <a:xfrm rot="0">
            <a:off x="666750" y="666750"/>
            <a:ext cx="5448300" cy="5749924"/>
            <a:chOff x="0" y="0"/>
            <a:chExt cx="7264400" cy="7666566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-9525"/>
              <a:ext cx="7264400" cy="4650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25"/>
                </a:lnSpc>
                <a:spcBef>
                  <a:spcPct val="0"/>
                </a:spcBef>
              </a:pPr>
              <a:r>
                <a:rPr lang="en-US" sz="6525" spc="-195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Comparación de Popularidad de Episodios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5049096"/>
              <a:ext cx="7264400" cy="26174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150"/>
                </a:lnSpc>
                <a:spcBef>
                  <a:spcPct val="0"/>
                </a:spcBef>
              </a:pPr>
              <a:r>
                <a:rPr lang="en-US" sz="2100" spc="-42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En esta sección, analizaremos la </a:t>
              </a:r>
              <a:r>
                <a:rPr lang="en-US" b="true" sz="2100" spc="-42">
                  <a:solidFill>
                    <a:srgbClr val="3D348B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popularidad</a:t>
              </a:r>
              <a:r>
                <a:rPr lang="en-US" sz="2100" spc="-42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 de episodios clave de Naruto, Jujutsu Kaisen y Shingeki no Kyojin, identificando tendencias y momentos destacados que cautivaron a la audiencia.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D34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6886575" cy="3543300"/>
            <a:chOff x="0" y="0"/>
            <a:chExt cx="9182100" cy="4724400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-9525"/>
              <a:ext cx="9182100" cy="29728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E3B505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Análisis de Sentimiento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3362325"/>
              <a:ext cx="9182100" cy="13620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F9F4EF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Emociones predominantes en los comentarios de animes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296400" y="1562100"/>
            <a:ext cx="6886575" cy="1956435"/>
            <a:chOff x="0" y="0"/>
            <a:chExt cx="9182100" cy="260858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115570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Los comentarios reflejan sentimientos </a:t>
              </a:r>
              <a:r>
                <a:rPr lang="en-US" b="true" sz="2100">
                  <a:solidFill>
                    <a:srgbClr val="F9F4EF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diversos</a:t>
              </a: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 como alegría y tristeza, variando según los eventos en la trama y personajes.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b="true" sz="2600" spc="-78" strike="noStrike" u="none">
                  <a:solidFill>
                    <a:srgbClr val="F9F4EF"/>
                  </a:solidFill>
                  <a:latin typeface="ITC Avant Garde Gothic Bold"/>
                  <a:ea typeface="ITC Avant Garde Gothic Bold"/>
                  <a:cs typeface="ITC Avant Garde Gothic Bold"/>
                  <a:sym typeface="ITC Avant Garde Gothic Bold"/>
                </a:rPr>
                <a:t>Sentimientos Generales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296400" y="4248150"/>
            <a:ext cx="6886575" cy="1956435"/>
            <a:chOff x="0" y="0"/>
            <a:chExt cx="9182100" cy="2608580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115570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A medida que avanzan las historias, las emociones de los espectadores </a:t>
              </a:r>
              <a:r>
                <a:rPr lang="en-US" b="true" sz="2100">
                  <a:solidFill>
                    <a:srgbClr val="F9F4EF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cambian</a:t>
              </a: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, con picos de entusiasmo en momentos clave de acción.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b="true" sz="2600" spc="-78" strike="noStrike" u="none">
                  <a:solidFill>
                    <a:srgbClr val="F9F4EF"/>
                  </a:solidFill>
                  <a:latin typeface="ITC Avant Garde Gothic Bold"/>
                  <a:ea typeface="ITC Avant Garde Gothic Bold"/>
                  <a:cs typeface="ITC Avant Garde Gothic Bold"/>
                  <a:sym typeface="ITC Avant Garde Gothic Bold"/>
                </a:rPr>
                <a:t>Evolución Emocional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296400" y="6938010"/>
            <a:ext cx="6886575" cy="1956435"/>
            <a:chOff x="0" y="0"/>
            <a:chExt cx="9182100" cy="260858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1155700"/>
              <a:ext cx="9182100" cy="1452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Las emociones expresadas influyen en la </a:t>
              </a:r>
              <a:r>
                <a:rPr lang="en-US" b="true" sz="2100">
                  <a:solidFill>
                    <a:srgbClr val="F9F4EF"/>
                  </a:solidFill>
                  <a:latin typeface="TT Fors Bold"/>
                  <a:ea typeface="TT Fors Bold"/>
                  <a:cs typeface="TT Fors Bold"/>
                  <a:sym typeface="TT Fors Bold"/>
                </a:rPr>
                <a:t>percepción</a:t>
              </a:r>
              <a:r>
                <a:rPr lang="en-US" sz="2100">
                  <a:solidFill>
                    <a:srgbClr val="F9F4EF"/>
                  </a:solidFill>
                  <a:latin typeface="TT Fors"/>
                  <a:ea typeface="TT Fors"/>
                  <a:cs typeface="TT Fors"/>
                  <a:sym typeface="TT Fors"/>
                </a:rPr>
                <a:t> general de los animes, afectando la popularidad y discusión en redes sociales.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104775"/>
              <a:ext cx="9182100" cy="6263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640"/>
                </a:lnSpc>
                <a:spcBef>
                  <a:spcPct val="0"/>
                </a:spcBef>
              </a:pPr>
              <a:r>
                <a:rPr lang="en-US" b="true" sz="2600" spc="-78" strike="noStrike" u="none">
                  <a:solidFill>
                    <a:srgbClr val="F9F4EF"/>
                  </a:solidFill>
                  <a:latin typeface="ITC Avant Garde Gothic Bold"/>
                  <a:ea typeface="ITC Avant Garde Gothic Bold"/>
                  <a:cs typeface="ITC Avant Garde Gothic Bold"/>
                  <a:sym typeface="ITC Avant Garde Gothic Bold"/>
                </a:rPr>
                <a:t>Impacto en la Audiencia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303343" y="7829550"/>
            <a:ext cx="4846643" cy="1791955"/>
            <a:chOff x="0" y="0"/>
            <a:chExt cx="6462190" cy="238927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2036459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4072917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8324850" cy="6204390"/>
            <a:chOff x="0" y="0"/>
            <a:chExt cx="11099800" cy="8272520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-9525"/>
              <a:ext cx="11099800" cy="43190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Red de Relaciones Entre Personajes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4555865"/>
              <a:ext cx="11099800" cy="7143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Conexiones y dinámicas en los animes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6324340"/>
              <a:ext cx="9182100" cy="19481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3D348B"/>
                  </a:solidFill>
                  <a:latin typeface="TT Fors"/>
                  <a:ea typeface="TT Fors"/>
                  <a:cs typeface="TT Fors"/>
                  <a:sym typeface="TT Fors"/>
                </a:rPr>
                <a:t>Esta sección explora las complejas relaciones entre los personajes de Naruto, Jujutsu Kaisen y Shingeki no Kyojin, revelando cómo sus interacciones influyen en la trama y evolución de cada historia.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734675" y="0"/>
            <a:ext cx="7553325" cy="10287000"/>
            <a:chOff x="0" y="0"/>
            <a:chExt cx="1170208" cy="159372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70208" cy="1593725"/>
            </a:xfrm>
            <a:custGeom>
              <a:avLst/>
              <a:gdLst/>
              <a:ahLst/>
              <a:cxnLst/>
              <a:rect r="r" b="b" t="t" l="l"/>
              <a:pathLst>
                <a:path h="1593725" w="1170208">
                  <a:moveTo>
                    <a:pt x="0" y="0"/>
                  </a:moveTo>
                  <a:lnTo>
                    <a:pt x="1170208" y="0"/>
                  </a:lnTo>
                  <a:lnTo>
                    <a:pt x="1170208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/>
              <a:stretch>
                <a:fillRect l="0" t="-205" r="0" b="-205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3B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29875" y="0"/>
            <a:ext cx="7858125" cy="10287000"/>
            <a:chOff x="0" y="0"/>
            <a:chExt cx="1764443" cy="23098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64443" cy="2309817"/>
            </a:xfrm>
            <a:custGeom>
              <a:avLst/>
              <a:gdLst/>
              <a:ahLst/>
              <a:cxnLst/>
              <a:rect r="r" b="b" t="t" l="l"/>
              <a:pathLst>
                <a:path h="2309817" w="1764443">
                  <a:moveTo>
                    <a:pt x="0" y="0"/>
                  </a:moveTo>
                  <a:lnTo>
                    <a:pt x="1764443" y="0"/>
                  </a:lnTo>
                  <a:lnTo>
                    <a:pt x="1764443" y="2309817"/>
                  </a:lnTo>
                  <a:lnTo>
                    <a:pt x="0" y="2309817"/>
                  </a:lnTo>
                  <a:close/>
                </a:path>
              </a:pathLst>
            </a:custGeom>
            <a:blipFill>
              <a:blip r:embed="rId2"/>
              <a:stretch>
                <a:fillRect l="0" t="-255" r="0" b="-255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666750" y="666750"/>
            <a:ext cx="8324850" cy="3657600"/>
            <a:chOff x="0" y="0"/>
            <a:chExt cx="11099800" cy="4876800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-9525"/>
              <a:ext cx="11099800" cy="29728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0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¿Qué hemos aprendido hoy?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3514725"/>
              <a:ext cx="11068284" cy="13620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39"/>
                </a:lnSpc>
                <a:spcBef>
                  <a:spcPct val="0"/>
                </a:spcBef>
              </a:pPr>
              <a:r>
                <a:rPr lang="en-US" sz="3199" spc="-95" strike="noStrike" u="none">
                  <a:solidFill>
                    <a:srgbClr val="3D348B"/>
                  </a:solidFill>
                  <a:latin typeface="ITC Avant Garde Gothic"/>
                  <a:ea typeface="ITC Avant Garde Gothic"/>
                  <a:cs typeface="ITC Avant Garde Gothic"/>
                  <a:sym typeface="ITC Avant Garde Gothic"/>
                </a:rPr>
                <a:t>Reflexiones sobre Data Science y animes para todos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-1303343" y="7829550"/>
            <a:ext cx="4846643" cy="1791955"/>
            <a:chOff x="0" y="0"/>
            <a:chExt cx="6462190" cy="238927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2036459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4072917" y="0"/>
              <a:ext cx="2389273" cy="2389273"/>
            </a:xfrm>
            <a:custGeom>
              <a:avLst/>
              <a:gdLst/>
              <a:ahLst/>
              <a:cxnLst/>
              <a:rect r="r" b="b" t="t" l="l"/>
              <a:pathLst>
                <a:path h="2389273" w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A7A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981575" y="8790940"/>
            <a:ext cx="8324850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640"/>
              </a:lnSpc>
            </a:pPr>
            <a:r>
              <a:rPr lang="en-US" sz="2600">
                <a:solidFill>
                  <a:srgbClr val="F9F4EF"/>
                </a:solidFill>
                <a:latin typeface="TT Fors"/>
                <a:ea typeface="TT Fors"/>
                <a:cs typeface="TT Fors"/>
                <a:sym typeface="TT Fors"/>
              </a:rPr>
              <a:t>– Equipo de Proyecto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105025" y="3284791"/>
            <a:ext cx="14077950" cy="4251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3D348B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“La curiosidad y el análisis de datos pueden transformarte en un experto en el mundo de los animes.”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8537838" y="1057275"/>
            <a:ext cx="1212324" cy="934592"/>
          </a:xfrm>
          <a:custGeom>
            <a:avLst/>
            <a:gdLst/>
            <a:ahLst/>
            <a:cxnLst/>
            <a:rect r="r" b="b" t="t" l="l"/>
            <a:pathLst>
              <a:path h="934592" w="1212324">
                <a:moveTo>
                  <a:pt x="0" y="0"/>
                </a:moveTo>
                <a:lnTo>
                  <a:pt x="1212324" y="0"/>
                </a:lnTo>
                <a:lnTo>
                  <a:pt x="1212324" y="934592"/>
                </a:lnTo>
                <a:lnTo>
                  <a:pt x="0" y="9345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Proyecto de Data Science</dc:description>
  <dc:identifier>DAG6qXdFeb4</dc:identifier>
  <dcterms:modified xsi:type="dcterms:W3CDTF">2011-08-01T06:04:30Z</dcterms:modified>
  <cp:revision>1</cp:revision>
  <dc:title>Presentación - Proyecto de Data Science</dc:title>
</cp:coreProperties>
</file>